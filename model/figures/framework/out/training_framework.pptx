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aders"/>
          <p:cNvGrpSpPr/>
          <p:nvPr/>
        </p:nvGrpSpPr>
        <p:grpSpPr>
          <a:xfrm>
            <a:off x="304800" y="230378"/>
            <a:ext cx="11582400" cy="190309"/>
            <a:chOff x="304800" y="230378"/>
            <a:chExt cx="11582400" cy="190309"/>
          </a:xfrm>
        </p:grpSpPr>
        <p:sp>
          <p:nvSpPr>
            <p:cNvPr id="3" name="TextBox 2"/>
            <p:cNvSpPr txBox="1"/>
            <p:nvPr/>
          </p:nvSpPr>
          <p:spPr>
            <a:xfrm>
              <a:off x="304800" y="230378"/>
              <a:ext cx="145851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75">
                  <a:solidFill>
                    <a:srgbClr val="EB6547"/>
                  </a:solidFill>
                  <a:latin typeface="Inter"/>
                </a:rPr>
                <a:t>01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95300" y="230378"/>
              <a:ext cx="319087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125">
                  <a:solidFill>
                    <a:srgbClr val="8B95A7"/>
                  </a:solidFill>
                  <a:latin typeface="Inter"/>
                </a:rPr>
                <a:t>DATA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04800" y="406400"/>
              <a:ext cx="2286000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4800" y="401637"/>
              <a:ext cx="139700" cy="19050"/>
            </a:xfrm>
            <a:prstGeom prst="rect">
              <a:avLst/>
            </a:prstGeom>
            <a:solidFill>
              <a:srgbClr val="EB65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17800" y="230378"/>
              <a:ext cx="163512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75">
                  <a:solidFill>
                    <a:srgbClr val="EB6547"/>
                  </a:solidFill>
                  <a:latin typeface="Inter"/>
                </a:rPr>
                <a:t>02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08300" y="230378"/>
              <a:ext cx="448865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125">
                  <a:solidFill>
                    <a:srgbClr val="8B95A7"/>
                  </a:solidFill>
                  <a:latin typeface="Inter"/>
                </a:rPr>
                <a:t>INPUTS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717800" y="406400"/>
              <a:ext cx="3302000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17800" y="401637"/>
              <a:ext cx="139700" cy="19050"/>
            </a:xfrm>
            <a:prstGeom prst="rect">
              <a:avLst/>
            </a:prstGeom>
            <a:solidFill>
              <a:srgbClr val="EB65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72200" y="230378"/>
              <a:ext cx="164901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75">
                  <a:solidFill>
                    <a:srgbClr val="EB6547"/>
                  </a:solidFill>
                  <a:latin typeface="Inter"/>
                </a:rPr>
                <a:t>03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62700" y="230378"/>
              <a:ext cx="494010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125">
                  <a:solidFill>
                    <a:srgbClr val="8B95A7"/>
                  </a:solidFill>
                  <a:latin typeface="Inter"/>
                </a:rPr>
                <a:t>MODELS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172200" y="406400"/>
              <a:ext cx="3048000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72200" y="401637"/>
              <a:ext cx="139700" cy="19050"/>
            </a:xfrm>
            <a:prstGeom prst="rect">
              <a:avLst/>
            </a:prstGeom>
            <a:solidFill>
              <a:srgbClr val="EB65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82200" y="230378"/>
              <a:ext cx="167679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75">
                  <a:solidFill>
                    <a:srgbClr val="EB6547"/>
                  </a:solidFill>
                  <a:latin typeface="Inter"/>
                </a:rPr>
                <a:t>04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172700" y="230378"/>
              <a:ext cx="723701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1" spc="125">
                  <a:solidFill>
                    <a:srgbClr val="8B95A7"/>
                  </a:solidFill>
                  <a:latin typeface="Inter"/>
                </a:rPr>
                <a:t>PREDICTION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982200" y="406400"/>
              <a:ext cx="1905000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982200" y="401637"/>
              <a:ext cx="139700" cy="19050"/>
            </a:xfrm>
            <a:prstGeom prst="rect">
              <a:avLst/>
            </a:prstGeom>
            <a:solidFill>
              <a:srgbClr val="EB65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data"/>
          <p:cNvGrpSpPr/>
          <p:nvPr/>
        </p:nvGrpSpPr>
        <p:grpSpPr>
          <a:xfrm>
            <a:off x="304800" y="584200"/>
            <a:ext cx="2286000" cy="5867400"/>
            <a:chOff x="304800" y="584200"/>
            <a:chExt cx="2286000" cy="5867400"/>
          </a:xfrm>
        </p:grpSpPr>
        <p:sp>
          <p:nvSpPr>
            <p:cNvPr id="20" name="Rounded Rectangle 19"/>
            <p:cNvSpPr/>
            <p:nvPr/>
          </p:nvSpPr>
          <p:spPr>
            <a:xfrm>
              <a:off x="304800" y="584200"/>
              <a:ext cx="2286000" cy="19050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698500"/>
              <a:ext cx="31750" cy="2159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7200" y="701548"/>
              <a:ext cx="822622" cy="19812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200" b="1">
                  <a:solidFill>
                    <a:srgbClr val="18212F"/>
                  </a:solidFill>
                  <a:latin typeface="Inter"/>
                </a:rPr>
                <a:t>CGMacros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305222" y="723900"/>
              <a:ext cx="365422" cy="1397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62372" y="746505"/>
              <a:ext cx="289222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1">
                  <a:solidFill>
                    <a:srgbClr val="8B95A7"/>
                  </a:solidFill>
                  <a:latin typeface="Inter"/>
                </a:rPr>
                <a:t>official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7200" y="909955"/>
              <a:ext cx="1549697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45 adults · 1,397 meals · ~10 days</a:t>
              </a:r>
            </a:p>
          </p:txBody>
        </p:sp>
        <p:pic>
          <p:nvPicPr>
            <p:cNvPr id="26" name="Picture 25" descr="meal_photo_008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117600"/>
              <a:ext cx="533400" cy="533400"/>
            </a:xfrm>
            <a:prstGeom prst="round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1092200" y="1143000"/>
              <a:ext cx="13462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92200" y="1303866"/>
              <a:ext cx="13462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92200" y="1464733"/>
              <a:ext cx="13462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2200" y="1625600"/>
              <a:ext cx="13462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092200" y="1168400"/>
              <a:ext cx="1346200" cy="431800"/>
            </a:xfrm>
            <a:custGeom>
              <a:avLst/>
              <a:gdLst/>
              <a:ahLst/>
              <a:cxnLst/>
              <a:rect l="l" t="t" r="r" b="b"/>
              <a:pathLst>
                <a:path w="1346200" h="431800">
                  <a:moveTo>
                    <a:pt x="0" y="428942"/>
                  </a:moveTo>
                  <a:lnTo>
                    <a:pt x="18161" y="431800"/>
                  </a:lnTo>
                  <a:lnTo>
                    <a:pt x="36385" y="431800"/>
                  </a:lnTo>
                  <a:lnTo>
                    <a:pt x="54546" y="414210"/>
                  </a:lnTo>
                  <a:lnTo>
                    <a:pt x="72771" y="376237"/>
                  </a:lnTo>
                  <a:lnTo>
                    <a:pt x="90932" y="332549"/>
                  </a:lnTo>
                  <a:lnTo>
                    <a:pt x="109156" y="288417"/>
                  </a:lnTo>
                  <a:lnTo>
                    <a:pt x="127317" y="244729"/>
                  </a:lnTo>
                  <a:lnTo>
                    <a:pt x="145542" y="202184"/>
                  </a:lnTo>
                  <a:lnTo>
                    <a:pt x="163703" y="163385"/>
                  </a:lnTo>
                  <a:lnTo>
                    <a:pt x="181927" y="123761"/>
                  </a:lnTo>
                  <a:lnTo>
                    <a:pt x="200088" y="86169"/>
                  </a:lnTo>
                  <a:lnTo>
                    <a:pt x="218313" y="56769"/>
                  </a:lnTo>
                  <a:lnTo>
                    <a:pt x="236474" y="35560"/>
                  </a:lnTo>
                  <a:lnTo>
                    <a:pt x="254698" y="20002"/>
                  </a:lnTo>
                  <a:lnTo>
                    <a:pt x="272859" y="7366"/>
                  </a:lnTo>
                  <a:lnTo>
                    <a:pt x="291084" y="381"/>
                  </a:lnTo>
                  <a:lnTo>
                    <a:pt x="309245" y="0"/>
                  </a:lnTo>
                  <a:lnTo>
                    <a:pt x="327469" y="1206"/>
                  </a:lnTo>
                  <a:lnTo>
                    <a:pt x="345630" y="2857"/>
                  </a:lnTo>
                  <a:lnTo>
                    <a:pt x="363855" y="8572"/>
                  </a:lnTo>
                  <a:lnTo>
                    <a:pt x="382016" y="16764"/>
                  </a:lnTo>
                  <a:lnTo>
                    <a:pt x="400240" y="24892"/>
                  </a:lnTo>
                  <a:lnTo>
                    <a:pt x="418401" y="33909"/>
                  </a:lnTo>
                  <a:lnTo>
                    <a:pt x="436626" y="46545"/>
                  </a:lnTo>
                  <a:lnTo>
                    <a:pt x="454787" y="428942"/>
                  </a:lnTo>
                  <a:lnTo>
                    <a:pt x="473011" y="426910"/>
                  </a:lnTo>
                  <a:lnTo>
                    <a:pt x="491172" y="428942"/>
                  </a:lnTo>
                  <a:lnTo>
                    <a:pt x="509397" y="414655"/>
                  </a:lnTo>
                  <a:lnTo>
                    <a:pt x="527558" y="388112"/>
                  </a:lnTo>
                  <a:lnTo>
                    <a:pt x="545782" y="373761"/>
                  </a:lnTo>
                  <a:lnTo>
                    <a:pt x="563943" y="359473"/>
                  </a:lnTo>
                  <a:lnTo>
                    <a:pt x="582168" y="339090"/>
                  </a:lnTo>
                  <a:lnTo>
                    <a:pt x="600329" y="306387"/>
                  </a:lnTo>
                  <a:lnTo>
                    <a:pt x="618553" y="273685"/>
                  </a:lnTo>
                  <a:lnTo>
                    <a:pt x="636714" y="245110"/>
                  </a:lnTo>
                  <a:lnTo>
                    <a:pt x="654939" y="224663"/>
                  </a:lnTo>
                  <a:lnTo>
                    <a:pt x="673100" y="210375"/>
                  </a:lnTo>
                  <a:lnTo>
                    <a:pt x="691261" y="200152"/>
                  </a:lnTo>
                  <a:lnTo>
                    <a:pt x="709485" y="196088"/>
                  </a:lnTo>
                  <a:lnTo>
                    <a:pt x="727646" y="194056"/>
                  </a:lnTo>
                  <a:lnTo>
                    <a:pt x="745870" y="196088"/>
                  </a:lnTo>
                  <a:lnTo>
                    <a:pt x="764032" y="192024"/>
                  </a:lnTo>
                  <a:lnTo>
                    <a:pt x="782256" y="187896"/>
                  </a:lnTo>
                  <a:lnTo>
                    <a:pt x="800417" y="189928"/>
                  </a:lnTo>
                  <a:lnTo>
                    <a:pt x="818642" y="204279"/>
                  </a:lnTo>
                  <a:lnTo>
                    <a:pt x="836802" y="214439"/>
                  </a:lnTo>
                  <a:lnTo>
                    <a:pt x="855027" y="220599"/>
                  </a:lnTo>
                  <a:lnTo>
                    <a:pt x="873188" y="232854"/>
                  </a:lnTo>
                  <a:lnTo>
                    <a:pt x="891413" y="241046"/>
                  </a:lnTo>
                  <a:lnTo>
                    <a:pt x="909574" y="428942"/>
                  </a:lnTo>
                  <a:lnTo>
                    <a:pt x="927798" y="408495"/>
                  </a:lnTo>
                  <a:lnTo>
                    <a:pt x="945959" y="383984"/>
                  </a:lnTo>
                  <a:lnTo>
                    <a:pt x="964183" y="373761"/>
                  </a:lnTo>
                  <a:lnTo>
                    <a:pt x="982345" y="330898"/>
                  </a:lnTo>
                  <a:lnTo>
                    <a:pt x="1000569" y="312483"/>
                  </a:lnTo>
                  <a:lnTo>
                    <a:pt x="1018730" y="292100"/>
                  </a:lnTo>
                  <a:lnTo>
                    <a:pt x="1036955" y="279844"/>
                  </a:lnTo>
                  <a:lnTo>
                    <a:pt x="1055116" y="249174"/>
                  </a:lnTo>
                  <a:lnTo>
                    <a:pt x="1073340" y="232854"/>
                  </a:lnTo>
                  <a:lnTo>
                    <a:pt x="1091501" y="214439"/>
                  </a:lnTo>
                  <a:lnTo>
                    <a:pt x="1109726" y="198120"/>
                  </a:lnTo>
                  <a:lnTo>
                    <a:pt x="1127887" y="181800"/>
                  </a:lnTo>
                  <a:lnTo>
                    <a:pt x="1146111" y="163385"/>
                  </a:lnTo>
                  <a:lnTo>
                    <a:pt x="1164272" y="145034"/>
                  </a:lnTo>
                  <a:lnTo>
                    <a:pt x="1182497" y="134810"/>
                  </a:lnTo>
                  <a:lnTo>
                    <a:pt x="1200658" y="118491"/>
                  </a:lnTo>
                  <a:lnTo>
                    <a:pt x="1218882" y="112331"/>
                  </a:lnTo>
                  <a:lnTo>
                    <a:pt x="1237043" y="106235"/>
                  </a:lnTo>
                  <a:lnTo>
                    <a:pt x="1255268" y="114363"/>
                  </a:lnTo>
                  <a:lnTo>
                    <a:pt x="1273429" y="122555"/>
                  </a:lnTo>
                  <a:lnTo>
                    <a:pt x="1291653" y="136842"/>
                  </a:lnTo>
                  <a:lnTo>
                    <a:pt x="1309814" y="165417"/>
                  </a:lnTo>
                  <a:lnTo>
                    <a:pt x="1328039" y="181800"/>
                  </a:lnTo>
                  <a:lnTo>
                    <a:pt x="1346200" y="202184"/>
                  </a:lnTo>
                </a:path>
              </a:pathLst>
            </a:custGeom>
            <a:noFill/>
            <a:ln w="11430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71880" y="1611630"/>
              <a:ext cx="40640" cy="40640"/>
            </a:xfrm>
            <a:prstGeom prst="ellipse">
              <a:avLst/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526677" y="1611630"/>
              <a:ext cx="40640" cy="40640"/>
            </a:xfrm>
            <a:prstGeom prst="ellipse">
              <a:avLst/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981474" y="1611630"/>
              <a:ext cx="40640" cy="40640"/>
            </a:xfrm>
            <a:prstGeom prst="ellipse">
              <a:avLst/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57200" y="1752600"/>
              <a:ext cx="663674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7050" y="1780032"/>
              <a:ext cx="56207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0A7466"/>
                  </a:solidFill>
                  <a:latin typeface="Inter"/>
                </a:rPr>
                <a:t>Meal photos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171674" y="1752600"/>
              <a:ext cx="352524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41524" y="1780032"/>
              <a:ext cx="25092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0A7466"/>
                  </a:solidFill>
                  <a:latin typeface="Inter"/>
                </a:rPr>
                <a:t>CGM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574998" y="1752600"/>
              <a:ext cx="565447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644848" y="1780032"/>
              <a:ext cx="463847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0A7466"/>
                  </a:solidFill>
                  <a:latin typeface="Inter"/>
                </a:rPr>
                <a:t>Heart rate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7200" y="1968500"/>
              <a:ext cx="462657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7050" y="1995932"/>
              <a:ext cx="361057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0A7466"/>
                  </a:solidFill>
                  <a:latin typeface="Inter"/>
                </a:rPr>
                <a:t>Activity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970657" y="1968500"/>
              <a:ext cx="506114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40507" y="1995932"/>
              <a:ext cx="40451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0A7466"/>
                  </a:solidFill>
                  <a:latin typeface="Inter"/>
                </a:rPr>
                <a:t>Food log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527571" y="1968500"/>
              <a:ext cx="769540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597421" y="1995932"/>
              <a:ext cx="667940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0A7466"/>
                  </a:solidFill>
                  <a:latin typeface="Inter"/>
                </a:rPr>
                <a:t>Age · sex · BMI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5720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5532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5344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05156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24968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44780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64592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844039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204216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2240280" y="2247900"/>
              <a:ext cx="177800" cy="50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7200" y="2332101"/>
              <a:ext cx="617339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0A7466"/>
                  </a:solidFill>
                  <a:latin typeface="Inter"/>
                </a:rPr>
                <a:t>days 1–7 · train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844039" y="2332101"/>
              <a:ext cx="362545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8B95A7"/>
                  </a:solidFill>
                  <a:latin typeface="Inter"/>
                </a:rPr>
                <a:t>8+ · test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304800" y="2603500"/>
              <a:ext cx="2286000" cy="1066800"/>
            </a:xfrm>
            <a:prstGeom prst="roundRect">
              <a:avLst>
                <a:gd name="adj" fmla="val 9523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04800" y="2717800"/>
              <a:ext cx="31750" cy="215900"/>
            </a:xfrm>
            <a:prstGeom prst="roundRect">
              <a:avLst>
                <a:gd name="adj" fmla="val 50000"/>
              </a:avLst>
            </a:prstGeom>
            <a:solidFill>
              <a:srgbClr val="6E58D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57200" y="2720848"/>
              <a:ext cx="868362" cy="19812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200" b="1">
                  <a:solidFill>
                    <a:srgbClr val="18212F"/>
                  </a:solidFill>
                  <a:latin typeface="Inter"/>
                </a:rPr>
                <a:t>MetaboNet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350962" y="2743200"/>
              <a:ext cx="365422" cy="1397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408112" y="2765806"/>
              <a:ext cx="289222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1">
                  <a:solidFill>
                    <a:srgbClr val="8B95A7"/>
                  </a:solidFill>
                  <a:latin typeface="Inter"/>
                </a:rPr>
                <a:t>official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57200" y="2929255"/>
              <a:ext cx="2112267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1,085 people with type 1 diabetes · 671k meals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457200" y="3124200"/>
              <a:ext cx="352524" cy="165100"/>
            </a:xfrm>
            <a:prstGeom prst="roundRect">
              <a:avLst>
                <a:gd name="adj" fmla="val 50000"/>
              </a:avLst>
            </a:prstGeom>
            <a:solidFill>
              <a:srgbClr val="ECE9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27050" y="3151632"/>
              <a:ext cx="25092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4F3BB0"/>
                  </a:solidFill>
                  <a:latin typeface="Inter"/>
                </a:rPr>
                <a:t>CGM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60524" y="3124200"/>
              <a:ext cx="394096" cy="165100"/>
            </a:xfrm>
            <a:prstGeom prst="roundRect">
              <a:avLst>
                <a:gd name="adj" fmla="val 50000"/>
              </a:avLst>
            </a:prstGeom>
            <a:solidFill>
              <a:srgbClr val="ECE9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30374" y="3151632"/>
              <a:ext cx="292496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4F3BB0"/>
                  </a:solidFill>
                  <a:latin typeface="Inter"/>
                </a:rPr>
                <a:t>Carbs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305421" y="3124200"/>
              <a:ext cx="417115" cy="165100"/>
            </a:xfrm>
            <a:prstGeom prst="roundRect">
              <a:avLst>
                <a:gd name="adj" fmla="val 50000"/>
              </a:avLst>
            </a:prstGeom>
            <a:solidFill>
              <a:srgbClr val="ECE9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375271" y="3151632"/>
              <a:ext cx="315515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4F3BB0"/>
                  </a:solidFill>
                  <a:latin typeface="Inter"/>
                </a:rPr>
                <a:t>Insulin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457200" y="3340100"/>
              <a:ext cx="769540" cy="165100"/>
            </a:xfrm>
            <a:prstGeom prst="roundRect">
              <a:avLst>
                <a:gd name="adj" fmla="val 50000"/>
              </a:avLst>
            </a:prstGeom>
            <a:solidFill>
              <a:srgbClr val="ECE9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27050" y="3367531"/>
              <a:ext cx="667940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4F3BB0"/>
                  </a:solidFill>
                  <a:latin typeface="Inter"/>
                </a:rPr>
                <a:t>Age · sex · BMI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304800" y="3784600"/>
              <a:ext cx="2286000" cy="8890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304800" y="3898900"/>
              <a:ext cx="31750" cy="215900"/>
            </a:xfrm>
            <a:prstGeom prst="roundRect">
              <a:avLst>
                <a:gd name="adj" fmla="val 50000"/>
              </a:avLst>
            </a:prstGeom>
            <a:solidFill>
              <a:srgbClr val="DE96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57200" y="3901948"/>
              <a:ext cx="774997" cy="19812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200" b="1">
                  <a:solidFill>
                    <a:srgbClr val="18212F"/>
                  </a:solidFill>
                  <a:latin typeface="Inter"/>
                </a:rPr>
                <a:t>BIG IDEAs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57200" y="4110354"/>
              <a:ext cx="980380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16 adults · 397 meals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457200" y="4305300"/>
              <a:ext cx="352524" cy="165100"/>
            </a:xfrm>
            <a:prstGeom prst="roundRect">
              <a:avLst>
                <a:gd name="adj" fmla="val 50000"/>
              </a:avLst>
            </a:prstGeom>
            <a:solidFill>
              <a:srgbClr val="FBF1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27050" y="4332732"/>
              <a:ext cx="25092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9E6604"/>
                  </a:solidFill>
                  <a:latin typeface="Inter"/>
                </a:rPr>
                <a:t>CGM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860524" y="4305300"/>
              <a:ext cx="506114" cy="165100"/>
            </a:xfrm>
            <a:prstGeom prst="roundRect">
              <a:avLst>
                <a:gd name="adj" fmla="val 50000"/>
              </a:avLst>
            </a:prstGeom>
            <a:solidFill>
              <a:srgbClr val="FBF1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30374" y="4332732"/>
              <a:ext cx="40451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9E6604"/>
                  </a:solidFill>
                  <a:latin typeface="Inter"/>
                </a:rPr>
                <a:t>Food log</a:t>
              </a:r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1417439" y="4305300"/>
              <a:ext cx="296961" cy="165100"/>
            </a:xfrm>
            <a:prstGeom prst="roundRect">
              <a:avLst>
                <a:gd name="adj" fmla="val 50000"/>
              </a:avLst>
            </a:prstGeom>
            <a:solidFill>
              <a:srgbClr val="FBF1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487289" y="4332732"/>
              <a:ext cx="195361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9E6604"/>
                  </a:solidFill>
                  <a:latin typeface="Inter"/>
                </a:rPr>
                <a:t>Sex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304800" y="5346700"/>
              <a:ext cx="2286000" cy="1104900"/>
            </a:xfrm>
            <a:prstGeom prst="roundRect">
              <a:avLst>
                <a:gd name="adj" fmla="val 9195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304800" y="5461000"/>
              <a:ext cx="31750" cy="215900"/>
            </a:xfrm>
            <a:prstGeom prst="roundRect">
              <a:avLst>
                <a:gd name="adj" fmla="val 50000"/>
              </a:avLst>
            </a:prstGeom>
            <a:solidFill>
              <a:srgbClr val="CF507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57200" y="5464048"/>
              <a:ext cx="859035" cy="19812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200" b="1">
                  <a:solidFill>
                    <a:srgbClr val="18212F"/>
                  </a:solidFill>
                  <a:latin typeface="Inter"/>
                </a:rPr>
                <a:t>Colas 2019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57200" y="5672455"/>
              <a:ext cx="1430238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208 adults · 2.7-year follow-up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457200" y="5867400"/>
              <a:ext cx="765274" cy="165100"/>
            </a:xfrm>
            <a:prstGeom prst="roundRect">
              <a:avLst>
                <a:gd name="adj" fmla="val 50000"/>
              </a:avLst>
            </a:prstGeom>
            <a:solidFill>
              <a:srgbClr val="FAE6E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27050" y="5894832"/>
              <a:ext cx="663674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A2355A"/>
                  </a:solidFill>
                  <a:latin typeface="Inter"/>
                </a:rPr>
                <a:t>CGM, 1–2 days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273274" y="5867400"/>
              <a:ext cx="650279" cy="165100"/>
            </a:xfrm>
            <a:prstGeom prst="roundRect">
              <a:avLst>
                <a:gd name="adj" fmla="val 50000"/>
              </a:avLst>
            </a:prstGeom>
            <a:solidFill>
              <a:srgbClr val="FAE6E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343124" y="5894832"/>
              <a:ext cx="548679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A2355A"/>
                  </a:solidFill>
                  <a:latin typeface="Inter"/>
                </a:rPr>
                <a:t>Clinical labs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457200" y="6083300"/>
              <a:ext cx="713085" cy="165100"/>
            </a:xfrm>
            <a:prstGeom prst="roundRect">
              <a:avLst>
                <a:gd name="adj" fmla="val 50000"/>
              </a:avLst>
            </a:prstGeom>
            <a:solidFill>
              <a:srgbClr val="FAE6E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27050" y="6110732"/>
              <a:ext cx="611485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A2355A"/>
                  </a:solidFill>
                  <a:latin typeface="Inter"/>
                </a:rPr>
                <a:t>T2D outcome</a:t>
              </a:r>
            </a:p>
          </p:txBody>
        </p:sp>
      </p:grpSp>
      <p:grpSp>
        <p:nvGrpSpPr>
          <p:cNvPr id="93" name="photo"/>
          <p:cNvGrpSpPr/>
          <p:nvPr/>
        </p:nvGrpSpPr>
        <p:grpSpPr>
          <a:xfrm>
            <a:off x="3175000" y="617855"/>
            <a:ext cx="2812702" cy="1426845"/>
            <a:chOff x="3175000" y="617855"/>
            <a:chExt cx="2812702" cy="1426845"/>
          </a:xfrm>
        </p:grpSpPr>
        <p:sp>
          <p:nvSpPr>
            <p:cNvPr id="94" name="TextBox 93"/>
            <p:cNvSpPr txBox="1"/>
            <p:nvPr/>
          </p:nvSpPr>
          <p:spPr>
            <a:xfrm>
              <a:off x="3175000" y="617855"/>
              <a:ext cx="553342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1">
                  <a:solidFill>
                    <a:srgbClr val="18212F"/>
                  </a:solidFill>
                  <a:latin typeface="Inter"/>
                </a:rPr>
                <a:t>Meal photo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175000" y="738251"/>
              <a:ext cx="450850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8B95A7"/>
                  </a:solidFill>
                  <a:latin typeface="Inter"/>
                </a:rPr>
                <a:t>CGMacros</a:t>
              </a:r>
            </a:p>
          </p:txBody>
        </p:sp>
        <p:pic>
          <p:nvPicPr>
            <p:cNvPr id="96" name="Picture 95" descr="meal_photo_049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5000" y="889000"/>
              <a:ext cx="609600" cy="609600"/>
            </a:xfrm>
            <a:prstGeom prst="roundRect">
              <a:avLst/>
            </a:prstGeom>
          </p:spPr>
        </p:pic>
        <p:sp>
          <p:nvSpPr>
            <p:cNvPr id="97" name="Freeform 96"/>
            <p:cNvSpPr/>
            <p:nvPr/>
          </p:nvSpPr>
          <p:spPr>
            <a:xfrm>
              <a:off x="3835400" y="1193800"/>
              <a:ext cx="99060" cy="0"/>
            </a:xfrm>
            <a:custGeom>
              <a:avLst/>
              <a:gdLst/>
              <a:ahLst/>
              <a:cxnLst/>
              <a:rect l="l" t="t" r="r" b="b"/>
              <a:pathLst>
                <a:path w="99060" h="0">
                  <a:moveTo>
                    <a:pt x="0" y="0"/>
                  </a:moveTo>
                  <a:lnTo>
                    <a:pt x="99060" y="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3924300" y="116586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50800" y="27940"/>
                  </a:moveTo>
                  <a:lnTo>
                    <a:pt x="0" y="55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4083050" y="804418"/>
              <a:ext cx="181102" cy="732282"/>
            </a:xfrm>
            <a:custGeom>
              <a:avLst/>
              <a:gdLst/>
              <a:ahLst/>
              <a:cxnLst/>
              <a:rect l="l" t="t" r="r" b="b"/>
              <a:pathLst>
                <a:path w="181102" h="732282">
                  <a:moveTo>
                    <a:pt x="0" y="122682"/>
                  </a:moveTo>
                  <a:lnTo>
                    <a:pt x="181102" y="0"/>
                  </a:lnTo>
                  <a:lnTo>
                    <a:pt x="181102" y="609600"/>
                  </a:lnTo>
                  <a:lnTo>
                    <a:pt x="0" y="732282"/>
                  </a:lnTo>
                  <a:close/>
                </a:path>
              </a:pathLst>
            </a:custGeom>
            <a:solidFill>
              <a:srgbClr val="A8B4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4025900" y="804418"/>
              <a:ext cx="238252" cy="122682"/>
            </a:xfrm>
            <a:custGeom>
              <a:avLst/>
              <a:gdLst/>
              <a:ahLst/>
              <a:cxnLst/>
              <a:rect l="l" t="t" r="r" b="b"/>
              <a:pathLst>
                <a:path w="238252" h="122682">
                  <a:moveTo>
                    <a:pt x="0" y="122682"/>
                  </a:moveTo>
                  <a:lnTo>
                    <a:pt x="181102" y="0"/>
                  </a:lnTo>
                  <a:lnTo>
                    <a:pt x="238252" y="0"/>
                  </a:lnTo>
                  <a:lnTo>
                    <a:pt x="57150" y="122682"/>
                  </a:lnTo>
                  <a:close/>
                </a:path>
              </a:pathLst>
            </a:custGeom>
            <a:solidFill>
              <a:srgbClr val="C9D1E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025900" y="927100"/>
              <a:ext cx="57150" cy="609600"/>
            </a:xfrm>
            <a:prstGeom prst="rect">
              <a:avLst/>
            </a:prstGeom>
            <a:solidFill>
              <a:srgbClr val="7E8DA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4254500" y="876554"/>
              <a:ext cx="149606" cy="609346"/>
            </a:xfrm>
            <a:custGeom>
              <a:avLst/>
              <a:gdLst/>
              <a:ahLst/>
              <a:cxnLst/>
              <a:rect l="l" t="t" r="r" b="b"/>
              <a:pathLst>
                <a:path w="149606" h="609346">
                  <a:moveTo>
                    <a:pt x="0" y="101346"/>
                  </a:moveTo>
                  <a:lnTo>
                    <a:pt x="149606" y="0"/>
                  </a:lnTo>
                  <a:lnTo>
                    <a:pt x="149606" y="508000"/>
                  </a:lnTo>
                  <a:lnTo>
                    <a:pt x="0" y="609346"/>
                  </a:lnTo>
                  <a:close/>
                </a:path>
              </a:pathLst>
            </a:custGeom>
            <a:solidFill>
              <a:srgbClr val="A8B4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4197350" y="876554"/>
              <a:ext cx="206756" cy="101346"/>
            </a:xfrm>
            <a:custGeom>
              <a:avLst/>
              <a:gdLst/>
              <a:ahLst/>
              <a:cxnLst/>
              <a:rect l="l" t="t" r="r" b="b"/>
              <a:pathLst>
                <a:path w="206756" h="101346">
                  <a:moveTo>
                    <a:pt x="0" y="101346"/>
                  </a:moveTo>
                  <a:lnTo>
                    <a:pt x="149606" y="0"/>
                  </a:lnTo>
                  <a:lnTo>
                    <a:pt x="206756" y="0"/>
                  </a:lnTo>
                  <a:lnTo>
                    <a:pt x="57150" y="101346"/>
                  </a:lnTo>
                  <a:close/>
                </a:path>
              </a:pathLst>
            </a:custGeom>
            <a:solidFill>
              <a:srgbClr val="C9D1E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197350" y="977900"/>
              <a:ext cx="57150" cy="508000"/>
            </a:xfrm>
            <a:prstGeom prst="rect">
              <a:avLst/>
            </a:prstGeom>
            <a:solidFill>
              <a:srgbClr val="7E8DA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4425950" y="948690"/>
              <a:ext cx="118110" cy="486410"/>
            </a:xfrm>
            <a:custGeom>
              <a:avLst/>
              <a:gdLst/>
              <a:ahLst/>
              <a:cxnLst/>
              <a:rect l="l" t="t" r="r" b="b"/>
              <a:pathLst>
                <a:path w="118110" h="486410">
                  <a:moveTo>
                    <a:pt x="0" y="80010"/>
                  </a:moveTo>
                  <a:lnTo>
                    <a:pt x="118110" y="0"/>
                  </a:lnTo>
                  <a:lnTo>
                    <a:pt x="118110" y="406400"/>
                  </a:lnTo>
                  <a:lnTo>
                    <a:pt x="0" y="486410"/>
                  </a:lnTo>
                  <a:close/>
                </a:path>
              </a:pathLst>
            </a:custGeom>
            <a:solidFill>
              <a:srgbClr val="A8B4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4368800" y="948690"/>
              <a:ext cx="175260" cy="80010"/>
            </a:xfrm>
            <a:custGeom>
              <a:avLst/>
              <a:gdLst/>
              <a:ahLst/>
              <a:cxnLst/>
              <a:rect l="l" t="t" r="r" b="b"/>
              <a:pathLst>
                <a:path w="175260" h="80010">
                  <a:moveTo>
                    <a:pt x="0" y="80010"/>
                  </a:moveTo>
                  <a:lnTo>
                    <a:pt x="118110" y="0"/>
                  </a:lnTo>
                  <a:lnTo>
                    <a:pt x="175260" y="0"/>
                  </a:lnTo>
                  <a:lnTo>
                    <a:pt x="57150" y="80010"/>
                  </a:lnTo>
                  <a:close/>
                </a:path>
              </a:pathLst>
            </a:custGeom>
            <a:solidFill>
              <a:srgbClr val="C9D1E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4368800" y="1028700"/>
              <a:ext cx="57150" cy="406400"/>
            </a:xfrm>
            <a:prstGeom prst="rect">
              <a:avLst/>
            </a:prstGeom>
            <a:solidFill>
              <a:srgbClr val="7E8DA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4597400" y="1020826"/>
              <a:ext cx="86614" cy="363474"/>
            </a:xfrm>
            <a:custGeom>
              <a:avLst/>
              <a:gdLst/>
              <a:ahLst/>
              <a:cxnLst/>
              <a:rect l="l" t="t" r="r" b="b"/>
              <a:pathLst>
                <a:path w="86614" h="363474">
                  <a:moveTo>
                    <a:pt x="0" y="58674"/>
                  </a:moveTo>
                  <a:lnTo>
                    <a:pt x="86614" y="0"/>
                  </a:lnTo>
                  <a:lnTo>
                    <a:pt x="86614" y="304800"/>
                  </a:lnTo>
                  <a:lnTo>
                    <a:pt x="0" y="363474"/>
                  </a:lnTo>
                  <a:close/>
                </a:path>
              </a:pathLst>
            </a:custGeom>
            <a:solidFill>
              <a:srgbClr val="A8B4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4540250" y="1020826"/>
              <a:ext cx="143764" cy="58674"/>
            </a:xfrm>
            <a:custGeom>
              <a:avLst/>
              <a:gdLst/>
              <a:ahLst/>
              <a:cxnLst/>
              <a:rect l="l" t="t" r="r" b="b"/>
              <a:pathLst>
                <a:path w="143764" h="58674">
                  <a:moveTo>
                    <a:pt x="0" y="58674"/>
                  </a:moveTo>
                  <a:lnTo>
                    <a:pt x="86614" y="0"/>
                  </a:lnTo>
                  <a:lnTo>
                    <a:pt x="143764" y="0"/>
                  </a:lnTo>
                  <a:lnTo>
                    <a:pt x="57150" y="58674"/>
                  </a:lnTo>
                  <a:close/>
                </a:path>
              </a:pathLst>
            </a:custGeom>
            <a:solidFill>
              <a:srgbClr val="C9D1E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4540250" y="1079500"/>
              <a:ext cx="57150" cy="304800"/>
            </a:xfrm>
            <a:prstGeom prst="rect">
              <a:avLst/>
            </a:prstGeom>
            <a:solidFill>
              <a:srgbClr val="7E8DA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056360" y="617855"/>
              <a:ext cx="726479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750" b="1">
                  <a:solidFill>
                    <a:srgbClr val="18212F"/>
                  </a:solidFill>
                  <a:latin typeface="Inter"/>
                </a:rPr>
                <a:t>Image encoder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949451" y="738251"/>
              <a:ext cx="940296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50" b="0">
                  <a:solidFill>
                    <a:srgbClr val="8B95A7"/>
                  </a:solidFill>
                  <a:latin typeface="Inter"/>
                </a:rPr>
                <a:t>MobileCLIP-S2 · frozen</a:t>
              </a: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4851400" y="1193800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60" h="0">
                  <a:moveTo>
                    <a:pt x="0" y="0"/>
                  </a:moveTo>
                  <a:lnTo>
                    <a:pt x="86360" y="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4927600" y="116586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50800" y="27940"/>
                  </a:moveTo>
                  <a:lnTo>
                    <a:pt x="0" y="55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029200" y="889000"/>
              <a:ext cx="88900" cy="76200"/>
            </a:xfrm>
            <a:prstGeom prst="rect">
              <a:avLst/>
            </a:prstGeom>
            <a:solidFill>
              <a:srgbClr val="D7DD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5029200" y="965200"/>
              <a:ext cx="88900" cy="76200"/>
            </a:xfrm>
            <a:prstGeom prst="rect">
              <a:avLst/>
            </a:prstGeom>
            <a:solidFill>
              <a:srgbClr val="9AA8C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029200" y="1041400"/>
              <a:ext cx="88900" cy="76200"/>
            </a:xfrm>
            <a:prstGeom prst="rect">
              <a:avLst/>
            </a:prstGeom>
            <a:solidFill>
              <a:srgbClr val="C2CBD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5029200" y="1117600"/>
              <a:ext cx="88900" cy="76200"/>
            </a:xfrm>
            <a:prstGeom prst="rect">
              <a:avLst/>
            </a:prstGeom>
            <a:solidFill>
              <a:srgbClr val="6F82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5029200" y="1193800"/>
              <a:ext cx="88900" cy="76200"/>
            </a:xfrm>
            <a:prstGeom prst="rect">
              <a:avLst/>
            </a:prstGeom>
            <a:solidFill>
              <a:srgbClr val="E2E7F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5029200" y="1270000"/>
              <a:ext cx="88900" cy="76200"/>
            </a:xfrm>
            <a:prstGeom prst="rect">
              <a:avLst/>
            </a:prstGeom>
            <a:solidFill>
              <a:srgbClr val="8C9BB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5029200" y="1346200"/>
              <a:ext cx="88900" cy="76200"/>
            </a:xfrm>
            <a:prstGeom prst="rect">
              <a:avLst/>
            </a:prstGeom>
            <a:solidFill>
              <a:srgbClr val="B3BE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5029200" y="1422400"/>
              <a:ext cx="88900" cy="76200"/>
            </a:xfrm>
            <a:prstGeom prst="rect">
              <a:avLst/>
            </a:prstGeom>
            <a:solidFill>
              <a:srgbClr val="7D8F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029200" y="889000"/>
              <a:ext cx="88900" cy="609600"/>
            </a:xfrm>
            <a:prstGeom prst="rect">
              <a:avLst/>
            </a:prstGeom>
            <a:noFill/>
            <a:ln w="7620" cap="rnd">
              <a:solidFill>
                <a:srgbClr val="6F82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941937" y="1532001"/>
              <a:ext cx="263425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50" b="0">
                  <a:solidFill>
                    <a:srgbClr val="8B95A7"/>
                  </a:solidFill>
                  <a:latin typeface="Inter"/>
                </a:rPr>
                <a:t>512-d</a:t>
              </a: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5168900" y="1193800"/>
              <a:ext cx="86360" cy="0"/>
            </a:xfrm>
            <a:custGeom>
              <a:avLst/>
              <a:gdLst/>
              <a:ahLst/>
              <a:cxnLst/>
              <a:rect l="l" t="t" r="r" b="b"/>
              <a:pathLst>
                <a:path w="86360" h="0">
                  <a:moveTo>
                    <a:pt x="0" y="0"/>
                  </a:moveTo>
                  <a:lnTo>
                    <a:pt x="86360" y="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5245100" y="116586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50800" y="27940"/>
                  </a:moveTo>
                  <a:lnTo>
                    <a:pt x="0" y="55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5359400" y="9969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5499100" y="9969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5638800" y="9969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5359400" y="11366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Rounded Rectangle 130"/>
            <p:cNvSpPr/>
            <p:nvPr/>
          </p:nvSpPr>
          <p:spPr>
            <a:xfrm>
              <a:off x="5499100" y="11366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5638800" y="11366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5359400" y="12763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5499100" y="12763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E4E8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5638800" y="1276350"/>
              <a:ext cx="107950" cy="107950"/>
            </a:xfrm>
            <a:prstGeom prst="roundRect">
              <a:avLst>
                <a:gd name="adj" fmla="val 23529"/>
              </a:avLst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5086697" y="617855"/>
              <a:ext cx="901005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750" b="1">
                  <a:solidFill>
                    <a:srgbClr val="18212F"/>
                  </a:solidFill>
                  <a:latin typeface="Inter"/>
                </a:rPr>
                <a:t>Nutrition estimator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099149" y="738251"/>
              <a:ext cx="876101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50" b="0">
                  <a:solidFill>
                    <a:srgbClr val="8B95A7"/>
                  </a:solidFill>
                  <a:latin typeface="Inter"/>
                </a:rPr>
                <a:t>nearest meals + GBM</a:t>
              </a: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5537200" y="1447800"/>
              <a:ext cx="0" cy="556260"/>
            </a:xfrm>
            <a:custGeom>
              <a:avLst/>
              <a:gdLst/>
              <a:ahLst/>
              <a:cxnLst/>
              <a:rect l="l" t="t" r="r" b="b"/>
              <a:pathLst>
                <a:path w="0" h="556260">
                  <a:moveTo>
                    <a:pt x="0" y="0"/>
                  </a:moveTo>
                  <a:lnTo>
                    <a:pt x="0" y="55626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5509260" y="1993900"/>
              <a:ext cx="55880" cy="50800"/>
            </a:xfrm>
            <a:custGeom>
              <a:avLst/>
              <a:gdLst/>
              <a:ahLst/>
              <a:cxnLst/>
              <a:rect l="l" t="t" r="r" b="b"/>
              <a:pathLst>
                <a:path w="55880" h="50800">
                  <a:moveTo>
                    <a:pt x="27940" y="50800"/>
                  </a:moveTo>
                  <a:lnTo>
                    <a:pt x="0" y="0"/>
                  </a:lnTo>
                  <a:lnTo>
                    <a:pt x="5588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4321869" y="1741424"/>
              <a:ext cx="1170880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r"/>
              <a:r>
                <a:rPr sz="600" b="0">
                  <a:solidFill>
                    <a:srgbClr val="8B95A7"/>
                  </a:solidFill>
                  <a:latin typeface="Inter"/>
                </a:rPr>
                <a:t>carbs · protein · fat · fiber · kcal</a:t>
              </a:r>
            </a:p>
          </p:txBody>
        </p:sp>
      </p:grpSp>
      <p:grpSp>
        <p:nvGrpSpPr>
          <p:cNvPr id="141" name="inputs"/>
          <p:cNvGrpSpPr/>
          <p:nvPr/>
        </p:nvGrpSpPr>
        <p:grpSpPr>
          <a:xfrm>
            <a:off x="3175000" y="2057400"/>
            <a:ext cx="2540000" cy="4241800"/>
            <a:chOff x="3175000" y="2057400"/>
            <a:chExt cx="2540000" cy="4241800"/>
          </a:xfrm>
        </p:grpSpPr>
        <p:sp>
          <p:nvSpPr>
            <p:cNvPr id="142" name="Rounded Rectangle 141"/>
            <p:cNvSpPr/>
            <p:nvPr/>
          </p:nvSpPr>
          <p:spPr>
            <a:xfrm>
              <a:off x="3175000" y="20574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276600" y="2087880"/>
              <a:ext cx="985142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Nutrients from photo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3175000" y="22860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276600" y="2316480"/>
              <a:ext cx="1148953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Glucose before the meal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3175000" y="25146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545080"/>
              <a:ext cx="1200050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Meal time · previous meal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3175000" y="27432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276600" y="2773680"/>
              <a:ext cx="1226442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First-week glucose profile</a:t>
              </a:r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3175000" y="29718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76600" y="3002280"/>
              <a:ext cx="1431131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Similar meals, own and others'</a:t>
              </a:r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3175000" y="32004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3276600" y="3230880"/>
              <a:ext cx="1705074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Past meals with their glucose curves</a:t>
              </a:r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3175000" y="34290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276600" y="3459479"/>
              <a:ext cx="494208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Heart rate</a:t>
              </a:r>
            </a:p>
          </p:txBody>
        </p:sp>
        <p:sp>
          <p:nvSpPr>
            <p:cNvPr id="156" name="Rounded Rectangle 155"/>
            <p:cNvSpPr/>
            <p:nvPr/>
          </p:nvSpPr>
          <p:spPr>
            <a:xfrm>
              <a:off x="3175000" y="36576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276600" y="3688079"/>
              <a:ext cx="1269603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Activity (METs, active kcal)</a:t>
              </a:r>
            </a:p>
          </p:txBody>
        </p:sp>
        <p:sp>
          <p:nvSpPr>
            <p:cNvPr id="158" name="Rounded Rectangle 157"/>
            <p:cNvSpPr/>
            <p:nvPr/>
          </p:nvSpPr>
          <p:spPr>
            <a:xfrm>
              <a:off x="3175000" y="38862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276600" y="3916679"/>
              <a:ext cx="712985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Age · sex · BMI</a:t>
              </a:r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3175000" y="41148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276600" y="4145279"/>
              <a:ext cx="1054000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Logged kcal (optional)</a:t>
              </a:r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3175000" y="43434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276600" y="4373880"/>
              <a:ext cx="1087040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Insulin dose and timing</a:t>
              </a:r>
            </a:p>
          </p:txBody>
        </p:sp>
        <p:sp>
          <p:nvSpPr>
            <p:cNvPr id="164" name="Rounded Rectangle 163"/>
            <p:cNvSpPr/>
            <p:nvPr/>
          </p:nvSpPr>
          <p:spPr>
            <a:xfrm>
              <a:off x="3175000" y="45720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8255" cap="rnd">
              <a:solidFill>
                <a:srgbClr val="C3CAD5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276600" y="4602480"/>
              <a:ext cx="1428253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Glucose after the meal (target)</a:t>
              </a:r>
            </a:p>
          </p:txBody>
        </p:sp>
        <p:sp>
          <p:nvSpPr>
            <p:cNvPr id="166" name="Rounded Rectangle 165"/>
            <p:cNvSpPr/>
            <p:nvPr/>
          </p:nvSpPr>
          <p:spPr>
            <a:xfrm>
              <a:off x="3175000" y="54356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276600" y="5466080"/>
              <a:ext cx="1281807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CGM metrics (up to 7 days)</a:t>
              </a:r>
            </a:p>
          </p:txBody>
        </p:sp>
        <p:sp>
          <p:nvSpPr>
            <p:cNvPr id="168" name="Rounded Rectangle 167"/>
            <p:cNvSpPr/>
            <p:nvPr/>
          </p:nvSpPr>
          <p:spPr>
            <a:xfrm>
              <a:off x="3175000" y="56642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3F5F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3276600" y="5694680"/>
              <a:ext cx="1617662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18212F"/>
                  </a:solidFill>
                  <a:latin typeface="Inter"/>
                </a:rPr>
                <a:t>Age · BMI · fasting glucose · HbA1c</a:t>
              </a:r>
            </a:p>
          </p:txBody>
        </p:sp>
        <p:sp>
          <p:nvSpPr>
            <p:cNvPr id="170" name="Rounded Rectangle 169"/>
            <p:cNvSpPr/>
            <p:nvPr/>
          </p:nvSpPr>
          <p:spPr>
            <a:xfrm>
              <a:off x="3175000" y="58928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8255" cap="rnd">
              <a:solidFill>
                <a:srgbClr val="C3CAD5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3276600" y="5923280"/>
              <a:ext cx="880367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Lab HbA1c (target)</a:t>
              </a:r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3175000" y="6121400"/>
              <a:ext cx="2540000" cy="177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8255" cap="rnd">
              <a:solidFill>
                <a:srgbClr val="C3CAD5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3276600" y="6151880"/>
              <a:ext cx="1619746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0">
                  <a:solidFill>
                    <a:srgbClr val="475467"/>
                  </a:solidFill>
                  <a:latin typeface="Inter"/>
                </a:rPr>
                <a:t>Developed type 2 diabetes (target)</a:t>
              </a:r>
            </a:p>
          </p:txBody>
        </p:sp>
      </p:grpSp>
      <p:grpSp>
        <p:nvGrpSpPr>
          <p:cNvPr id="174" name="lanes"/>
          <p:cNvGrpSpPr/>
          <p:nvPr/>
        </p:nvGrpSpPr>
        <p:grpSpPr>
          <a:xfrm>
            <a:off x="304800" y="5156200"/>
            <a:ext cx="11582400" cy="138684"/>
            <a:chOff x="304800" y="5156200"/>
            <a:chExt cx="11582400" cy="138684"/>
          </a:xfrm>
        </p:grpSpPr>
        <p:sp>
          <p:nvSpPr>
            <p:cNvPr id="175" name="Rectangle 174"/>
            <p:cNvSpPr/>
            <p:nvPr/>
          </p:nvSpPr>
          <p:spPr>
            <a:xfrm>
              <a:off x="304800" y="5156200"/>
              <a:ext cx="11582400" cy="7620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304800" y="5195824"/>
              <a:ext cx="857646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1" spc="100">
                  <a:solidFill>
                    <a:srgbClr val="8B95A7"/>
                  </a:solidFill>
                  <a:latin typeface="Inter"/>
                </a:rPr>
                <a:t>PROFILE MODELS</a:t>
              </a:r>
            </a:p>
          </p:txBody>
        </p:sp>
      </p:grpSp>
      <p:grpSp>
        <p:nvGrpSpPr>
          <p:cNvPr id="177" name="rails_data"/>
          <p:cNvGrpSpPr/>
          <p:nvPr/>
        </p:nvGrpSpPr>
        <p:grpSpPr>
          <a:xfrm>
            <a:off x="2590800" y="1158875"/>
            <a:ext cx="571500" cy="5092700"/>
            <a:chOff x="2590800" y="1158875"/>
            <a:chExt cx="571500" cy="5092700"/>
          </a:xfrm>
        </p:grpSpPr>
        <p:sp>
          <p:nvSpPr>
            <p:cNvPr id="178" name="Freeform 177"/>
            <p:cNvSpPr/>
            <p:nvPr/>
          </p:nvSpPr>
          <p:spPr>
            <a:xfrm>
              <a:off x="2717800" y="2374900"/>
              <a:ext cx="0" cy="3606800"/>
            </a:xfrm>
            <a:custGeom>
              <a:avLst/>
              <a:gdLst/>
              <a:ahLst/>
              <a:cxnLst/>
              <a:rect l="l" t="t" r="r" b="b"/>
              <a:pathLst>
                <a:path w="0" h="3606800">
                  <a:moveTo>
                    <a:pt x="0" y="0"/>
                  </a:moveTo>
                  <a:lnTo>
                    <a:pt x="0" y="3606800"/>
                  </a:lnTo>
                </a:path>
              </a:pathLst>
            </a:custGeom>
            <a:noFill/>
            <a:ln w="20320" cap="rnd">
              <a:solidFill>
                <a:srgbClr val="DE961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2819400" y="2374900"/>
              <a:ext cx="0" cy="2286000"/>
            </a:xfrm>
            <a:custGeom>
              <a:avLst/>
              <a:gdLst/>
              <a:ahLst/>
              <a:cxnLst/>
              <a:rect l="l" t="t" r="r" b="b"/>
              <a:pathLst>
                <a:path w="0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0320" cap="rnd">
              <a:solidFill>
                <a:srgbClr val="6E58D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2921000" y="552450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w="0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20320" cap="rnd">
              <a:solidFill>
                <a:srgbClr val="CF507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3022600" y="2146300"/>
              <a:ext cx="0" cy="3835400"/>
            </a:xfrm>
            <a:custGeom>
              <a:avLst/>
              <a:gdLst/>
              <a:ahLst/>
              <a:cxnLst/>
              <a:rect l="l" t="t" r="r" b="b"/>
              <a:pathLst>
                <a:path w="0" h="3835400">
                  <a:moveTo>
                    <a:pt x="0" y="0"/>
                  </a:moveTo>
                  <a:lnTo>
                    <a:pt x="0" y="3835400"/>
                  </a:lnTo>
                </a:path>
              </a:pathLst>
            </a:custGeom>
            <a:noFill/>
            <a:ln w="20320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2590800" y="4305300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64769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2590800" y="4305300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20320" cap="rnd">
              <a:solidFill>
                <a:srgbClr val="DE961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2590800" y="31750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64769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2590800" y="31750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0320" cap="rnd">
              <a:solidFill>
                <a:srgbClr val="6E58D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2590800" y="5753100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 h="0">
                  <a:moveTo>
                    <a:pt x="0" y="0"/>
                  </a:moveTo>
                  <a:lnTo>
                    <a:pt x="330200" y="0"/>
                  </a:lnTo>
                </a:path>
              </a:pathLst>
            </a:custGeom>
            <a:noFill/>
            <a:ln w="64769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2590800" y="5753100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 h="0">
                  <a:moveTo>
                    <a:pt x="0" y="0"/>
                  </a:moveTo>
                  <a:lnTo>
                    <a:pt x="330200" y="0"/>
                  </a:lnTo>
                </a:path>
              </a:pathLst>
            </a:custGeom>
            <a:noFill/>
            <a:ln w="20320" cap="rnd">
              <a:solidFill>
                <a:srgbClr val="CF507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Freeform 187"/>
            <p:cNvSpPr/>
            <p:nvPr/>
          </p:nvSpPr>
          <p:spPr>
            <a:xfrm>
              <a:off x="2590800" y="2146300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 h="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noFill/>
            <a:ln w="64769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Freeform 188"/>
            <p:cNvSpPr/>
            <p:nvPr/>
          </p:nvSpPr>
          <p:spPr>
            <a:xfrm>
              <a:off x="2590800" y="2146300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 h="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noFill/>
            <a:ln w="20320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2590800" y="11938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 h="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0320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3098800" y="11588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69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Oval 191"/>
            <p:cNvSpPr/>
            <p:nvPr/>
          </p:nvSpPr>
          <p:spPr>
            <a:xfrm>
              <a:off x="2676525" y="23336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Oval 192"/>
            <p:cNvSpPr/>
            <p:nvPr/>
          </p:nvSpPr>
          <p:spPr>
            <a:xfrm>
              <a:off x="2676525" y="25622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2676525" y="27908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2676525" y="39338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2676525" y="41624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Oval 196"/>
            <p:cNvSpPr/>
            <p:nvPr/>
          </p:nvSpPr>
          <p:spPr>
            <a:xfrm>
              <a:off x="2676525" y="46196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2676525" y="54832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2676525" y="5940425"/>
              <a:ext cx="82550" cy="82550"/>
            </a:xfrm>
            <a:prstGeom prst="ellipse">
              <a:avLst/>
            </a:prstGeom>
            <a:solidFill>
              <a:srgbClr val="DE9614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Oval 199"/>
            <p:cNvSpPr/>
            <p:nvPr/>
          </p:nvSpPr>
          <p:spPr>
            <a:xfrm>
              <a:off x="2778125" y="2333625"/>
              <a:ext cx="82550" cy="82550"/>
            </a:xfrm>
            <a:prstGeom prst="ellipse">
              <a:avLst/>
            </a:prstGeom>
            <a:solidFill>
              <a:srgbClr val="6E58D3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2778125" y="2562225"/>
              <a:ext cx="82550" cy="82550"/>
            </a:xfrm>
            <a:prstGeom prst="ellipse">
              <a:avLst/>
            </a:prstGeom>
            <a:solidFill>
              <a:srgbClr val="6E58D3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2778125" y="3248025"/>
              <a:ext cx="82550" cy="82550"/>
            </a:xfrm>
            <a:prstGeom prst="ellipse">
              <a:avLst/>
            </a:prstGeom>
            <a:solidFill>
              <a:srgbClr val="6E58D3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Oval 202"/>
            <p:cNvSpPr/>
            <p:nvPr/>
          </p:nvSpPr>
          <p:spPr>
            <a:xfrm>
              <a:off x="2778125" y="3933825"/>
              <a:ext cx="82550" cy="82550"/>
            </a:xfrm>
            <a:prstGeom prst="ellipse">
              <a:avLst/>
            </a:prstGeom>
            <a:solidFill>
              <a:srgbClr val="6E58D3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2778125" y="4391025"/>
              <a:ext cx="82550" cy="82550"/>
            </a:xfrm>
            <a:prstGeom prst="ellipse">
              <a:avLst/>
            </a:prstGeom>
            <a:solidFill>
              <a:srgbClr val="6E58D3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Oval 204"/>
            <p:cNvSpPr/>
            <p:nvPr/>
          </p:nvSpPr>
          <p:spPr>
            <a:xfrm>
              <a:off x="2778125" y="4619625"/>
              <a:ext cx="82550" cy="82550"/>
            </a:xfrm>
            <a:prstGeom prst="ellipse">
              <a:avLst/>
            </a:prstGeom>
            <a:solidFill>
              <a:srgbClr val="6E58D3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2879725" y="5483225"/>
              <a:ext cx="82550" cy="82550"/>
            </a:xfrm>
            <a:prstGeom prst="ellipse">
              <a:avLst/>
            </a:prstGeom>
            <a:solidFill>
              <a:srgbClr val="CF5079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>
              <a:off x="2879725" y="5711825"/>
              <a:ext cx="82550" cy="82550"/>
            </a:xfrm>
            <a:prstGeom prst="ellipse">
              <a:avLst/>
            </a:prstGeom>
            <a:solidFill>
              <a:srgbClr val="CF5079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2879725" y="5940425"/>
              <a:ext cx="82550" cy="82550"/>
            </a:xfrm>
            <a:prstGeom prst="ellipse">
              <a:avLst/>
            </a:prstGeom>
            <a:solidFill>
              <a:srgbClr val="CF5079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2879725" y="6169025"/>
              <a:ext cx="82550" cy="82550"/>
            </a:xfrm>
            <a:prstGeom prst="ellipse">
              <a:avLst/>
            </a:prstGeom>
            <a:solidFill>
              <a:srgbClr val="CF5079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2981325" y="21050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Oval 210"/>
            <p:cNvSpPr/>
            <p:nvPr/>
          </p:nvSpPr>
          <p:spPr>
            <a:xfrm>
              <a:off x="2981325" y="23336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2981325" y="25622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2981325" y="27908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Oval 213"/>
            <p:cNvSpPr/>
            <p:nvPr/>
          </p:nvSpPr>
          <p:spPr>
            <a:xfrm>
              <a:off x="2981325" y="30194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2981325" y="32480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2981325" y="34766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2981325" y="37052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2981325" y="39338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2981325" y="41624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2981325" y="46196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2981325" y="54832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Oval 221"/>
            <p:cNvSpPr/>
            <p:nvPr/>
          </p:nvSpPr>
          <p:spPr>
            <a:xfrm>
              <a:off x="2981325" y="5940425"/>
              <a:ext cx="82550" cy="82550"/>
            </a:xfrm>
            <a:prstGeom prst="ellipse">
              <a:avLst/>
            </a:prstGeom>
            <a:solidFill>
              <a:srgbClr val="0E9C88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3" name="rails_model"/>
          <p:cNvGrpSpPr/>
          <p:nvPr/>
        </p:nvGrpSpPr>
        <p:grpSpPr>
          <a:xfrm>
            <a:off x="5819923" y="1434782"/>
            <a:ext cx="339577" cy="4816793"/>
            <a:chOff x="5819923" y="1434782"/>
            <a:chExt cx="339577" cy="4816793"/>
          </a:xfrm>
        </p:grpSpPr>
        <p:sp>
          <p:nvSpPr>
            <p:cNvPr id="224" name="Freeform 223"/>
            <p:cNvSpPr/>
            <p:nvPr/>
          </p:nvSpPr>
          <p:spPr>
            <a:xfrm>
              <a:off x="5867400" y="1473200"/>
              <a:ext cx="0" cy="3187700"/>
            </a:xfrm>
            <a:custGeom>
              <a:avLst/>
              <a:gdLst/>
              <a:ahLst/>
              <a:cxnLst/>
              <a:rect l="l" t="t" r="r" b="b"/>
              <a:pathLst>
                <a:path w="0" h="3187700">
                  <a:moveTo>
                    <a:pt x="0" y="0"/>
                  </a:moveTo>
                  <a:lnTo>
                    <a:pt x="0" y="318770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5867400" y="1473200"/>
              <a:ext cx="236220" cy="0"/>
            </a:xfrm>
            <a:custGeom>
              <a:avLst/>
              <a:gdLst/>
              <a:ahLst/>
              <a:cxnLst/>
              <a:rect l="l" t="t" r="r" b="b"/>
              <a:pathLst>
                <a:path w="236220" h="0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Freeform 225"/>
            <p:cNvSpPr/>
            <p:nvPr/>
          </p:nvSpPr>
          <p:spPr>
            <a:xfrm>
              <a:off x="6089650" y="1434782"/>
              <a:ext cx="69850" cy="76835"/>
            </a:xfrm>
            <a:custGeom>
              <a:avLst/>
              <a:gdLst/>
              <a:ahLst/>
              <a:cxnLst/>
              <a:rect l="l" t="t" r="r" b="b"/>
              <a:pathLst>
                <a:path w="69850" h="76835">
                  <a:moveTo>
                    <a:pt x="69850" y="38418"/>
                  </a:moveTo>
                  <a:lnTo>
                    <a:pt x="0" y="76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5826125" y="21050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Oval 227"/>
            <p:cNvSpPr/>
            <p:nvPr/>
          </p:nvSpPr>
          <p:spPr>
            <a:xfrm>
              <a:off x="5826125" y="23336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5826125" y="25622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5826125" y="27908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Oval 230"/>
            <p:cNvSpPr/>
            <p:nvPr/>
          </p:nvSpPr>
          <p:spPr>
            <a:xfrm>
              <a:off x="5826125" y="30194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Oval 231"/>
            <p:cNvSpPr/>
            <p:nvPr/>
          </p:nvSpPr>
          <p:spPr>
            <a:xfrm>
              <a:off x="5826125" y="34766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Oval 232"/>
            <p:cNvSpPr/>
            <p:nvPr/>
          </p:nvSpPr>
          <p:spPr>
            <a:xfrm>
              <a:off x="5826125" y="37052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Oval 233"/>
            <p:cNvSpPr/>
            <p:nvPr/>
          </p:nvSpPr>
          <p:spPr>
            <a:xfrm>
              <a:off x="5826125" y="39338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Oval 234"/>
            <p:cNvSpPr/>
            <p:nvPr/>
          </p:nvSpPr>
          <p:spPr>
            <a:xfrm>
              <a:off x="5826125" y="41624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>
              <a:off x="5826125" y="46196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Freeform 236"/>
            <p:cNvSpPr/>
            <p:nvPr/>
          </p:nvSpPr>
          <p:spPr>
            <a:xfrm>
              <a:off x="5981700" y="2146300"/>
              <a:ext cx="0" cy="2514600"/>
            </a:xfrm>
            <a:custGeom>
              <a:avLst/>
              <a:gdLst/>
              <a:ahLst/>
              <a:cxnLst/>
              <a:rect l="l" t="t" r="r" b="b"/>
              <a:pathLst>
                <a:path w="0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Freeform 237"/>
            <p:cNvSpPr/>
            <p:nvPr/>
          </p:nvSpPr>
          <p:spPr>
            <a:xfrm>
              <a:off x="5981700" y="3746500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 h="0">
                  <a:moveTo>
                    <a:pt x="0" y="0"/>
                  </a:moveTo>
                  <a:lnTo>
                    <a:pt x="121920" y="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Freeform 238"/>
            <p:cNvSpPr/>
            <p:nvPr/>
          </p:nvSpPr>
          <p:spPr>
            <a:xfrm>
              <a:off x="6089650" y="3708082"/>
              <a:ext cx="69850" cy="76835"/>
            </a:xfrm>
            <a:custGeom>
              <a:avLst/>
              <a:gdLst/>
              <a:ahLst/>
              <a:cxnLst/>
              <a:rect l="l" t="t" r="r" b="b"/>
              <a:pathLst>
                <a:path w="69850" h="76835">
                  <a:moveTo>
                    <a:pt x="69850" y="38418"/>
                  </a:moveTo>
                  <a:lnTo>
                    <a:pt x="0" y="76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Oval 239"/>
            <p:cNvSpPr/>
            <p:nvPr/>
          </p:nvSpPr>
          <p:spPr>
            <a:xfrm>
              <a:off x="5940425" y="21050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Oval 240"/>
            <p:cNvSpPr/>
            <p:nvPr/>
          </p:nvSpPr>
          <p:spPr>
            <a:xfrm>
              <a:off x="5940425" y="23336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Oval 241"/>
            <p:cNvSpPr/>
            <p:nvPr/>
          </p:nvSpPr>
          <p:spPr>
            <a:xfrm>
              <a:off x="5940425" y="25622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Oval 242"/>
            <p:cNvSpPr/>
            <p:nvPr/>
          </p:nvSpPr>
          <p:spPr>
            <a:xfrm>
              <a:off x="5940425" y="32480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Oval 243"/>
            <p:cNvSpPr/>
            <p:nvPr/>
          </p:nvSpPr>
          <p:spPr>
            <a:xfrm>
              <a:off x="5940425" y="34766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Oval 244"/>
            <p:cNvSpPr/>
            <p:nvPr/>
          </p:nvSpPr>
          <p:spPr>
            <a:xfrm>
              <a:off x="5940425" y="39338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Oval 245"/>
            <p:cNvSpPr/>
            <p:nvPr/>
          </p:nvSpPr>
          <p:spPr>
            <a:xfrm>
              <a:off x="5940425" y="43910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Oval 246"/>
            <p:cNvSpPr/>
            <p:nvPr/>
          </p:nvSpPr>
          <p:spPr>
            <a:xfrm>
              <a:off x="5940425" y="46196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Freeform 247"/>
            <p:cNvSpPr/>
            <p:nvPr/>
          </p:nvSpPr>
          <p:spPr>
            <a:xfrm>
              <a:off x="5867400" y="552450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w="0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Freeform 248"/>
            <p:cNvSpPr/>
            <p:nvPr/>
          </p:nvSpPr>
          <p:spPr>
            <a:xfrm>
              <a:off x="5867400" y="6032500"/>
              <a:ext cx="236220" cy="0"/>
            </a:xfrm>
            <a:custGeom>
              <a:avLst/>
              <a:gdLst/>
              <a:ahLst/>
              <a:cxnLst/>
              <a:rect l="l" t="t" r="r" b="b"/>
              <a:pathLst>
                <a:path w="236220" h="0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Freeform 249"/>
            <p:cNvSpPr/>
            <p:nvPr/>
          </p:nvSpPr>
          <p:spPr>
            <a:xfrm>
              <a:off x="6089650" y="5994082"/>
              <a:ext cx="69850" cy="76835"/>
            </a:xfrm>
            <a:custGeom>
              <a:avLst/>
              <a:gdLst/>
              <a:ahLst/>
              <a:cxnLst/>
              <a:rect l="l" t="t" r="r" b="b"/>
              <a:pathLst>
                <a:path w="69850" h="76835">
                  <a:moveTo>
                    <a:pt x="69850" y="38418"/>
                  </a:moveTo>
                  <a:lnTo>
                    <a:pt x="0" y="76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Oval 250"/>
            <p:cNvSpPr/>
            <p:nvPr/>
          </p:nvSpPr>
          <p:spPr>
            <a:xfrm>
              <a:off x="5826125" y="54832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Oval 251"/>
            <p:cNvSpPr/>
            <p:nvPr/>
          </p:nvSpPr>
          <p:spPr>
            <a:xfrm>
              <a:off x="5826125" y="57118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Oval 252"/>
            <p:cNvSpPr/>
            <p:nvPr/>
          </p:nvSpPr>
          <p:spPr>
            <a:xfrm>
              <a:off x="5826125" y="61690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Freeform 253"/>
            <p:cNvSpPr/>
            <p:nvPr/>
          </p:nvSpPr>
          <p:spPr>
            <a:xfrm>
              <a:off x="5981700" y="55245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w="0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Freeform 254"/>
            <p:cNvSpPr/>
            <p:nvPr/>
          </p:nvSpPr>
          <p:spPr>
            <a:xfrm>
              <a:off x="5981700" y="5549900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 h="0">
                  <a:moveTo>
                    <a:pt x="0" y="0"/>
                  </a:moveTo>
                  <a:lnTo>
                    <a:pt x="121920" y="0"/>
                  </a:lnTo>
                </a:path>
              </a:pathLst>
            </a:custGeom>
            <a:noFill/>
            <a:ln w="1905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Freeform 255"/>
            <p:cNvSpPr/>
            <p:nvPr/>
          </p:nvSpPr>
          <p:spPr>
            <a:xfrm>
              <a:off x="6089650" y="5511482"/>
              <a:ext cx="69850" cy="76835"/>
            </a:xfrm>
            <a:custGeom>
              <a:avLst/>
              <a:gdLst/>
              <a:ahLst/>
              <a:cxnLst/>
              <a:rect l="l" t="t" r="r" b="b"/>
              <a:pathLst>
                <a:path w="69850" h="76835">
                  <a:moveTo>
                    <a:pt x="69850" y="38418"/>
                  </a:moveTo>
                  <a:lnTo>
                    <a:pt x="0" y="76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Oval 256"/>
            <p:cNvSpPr/>
            <p:nvPr/>
          </p:nvSpPr>
          <p:spPr>
            <a:xfrm>
              <a:off x="5940425" y="54832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Oval 257"/>
            <p:cNvSpPr/>
            <p:nvPr/>
          </p:nvSpPr>
          <p:spPr>
            <a:xfrm>
              <a:off x="5940425" y="5940425"/>
              <a:ext cx="82550" cy="82550"/>
            </a:xfrm>
            <a:prstGeom prst="ellipse">
              <a:avLst/>
            </a:prstGeom>
            <a:solidFill>
              <a:srgbClr val="1E2C52"/>
            </a:solidFill>
            <a:ln w="15875" cap="rnd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5819923" y="4776724"/>
              <a:ext cx="94952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1">
                  <a:solidFill>
                    <a:srgbClr val="1E2C52"/>
                  </a:solidFill>
                  <a:latin typeface="Inter"/>
                </a:rPr>
                <a:t>A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5937448" y="4776724"/>
              <a:ext cx="88503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1">
                  <a:solidFill>
                    <a:srgbClr val="1E2C52"/>
                  </a:solidFill>
                  <a:latin typeface="Inter"/>
                </a:rPr>
                <a:t>B</a:t>
              </a:r>
            </a:p>
          </p:txBody>
        </p:sp>
        <p:sp>
          <p:nvSpPr>
            <p:cNvPr id="261" name="Freeform 260"/>
            <p:cNvSpPr/>
            <p:nvPr/>
          </p:nvSpPr>
          <p:spPr>
            <a:xfrm>
              <a:off x="5715000" y="21463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Freeform 261"/>
            <p:cNvSpPr/>
            <p:nvPr/>
          </p:nvSpPr>
          <p:spPr>
            <a:xfrm>
              <a:off x="5715000" y="23749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Freeform 262"/>
            <p:cNvSpPr/>
            <p:nvPr/>
          </p:nvSpPr>
          <p:spPr>
            <a:xfrm>
              <a:off x="5715000" y="26035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Freeform 263"/>
            <p:cNvSpPr/>
            <p:nvPr/>
          </p:nvSpPr>
          <p:spPr>
            <a:xfrm>
              <a:off x="5715000" y="28321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Freeform 264"/>
            <p:cNvSpPr/>
            <p:nvPr/>
          </p:nvSpPr>
          <p:spPr>
            <a:xfrm>
              <a:off x="5715000" y="30607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Freeform 265"/>
            <p:cNvSpPr/>
            <p:nvPr/>
          </p:nvSpPr>
          <p:spPr>
            <a:xfrm>
              <a:off x="5715000" y="3289300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 h="0">
                  <a:moveTo>
                    <a:pt x="0" y="0"/>
                  </a:moveTo>
                  <a:lnTo>
                    <a:pt x="2222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5715000" y="35179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Freeform 267"/>
            <p:cNvSpPr/>
            <p:nvPr/>
          </p:nvSpPr>
          <p:spPr>
            <a:xfrm>
              <a:off x="5715000" y="37465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Freeform 268"/>
            <p:cNvSpPr/>
            <p:nvPr/>
          </p:nvSpPr>
          <p:spPr>
            <a:xfrm>
              <a:off x="5715000" y="39751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Freeform 269"/>
            <p:cNvSpPr/>
            <p:nvPr/>
          </p:nvSpPr>
          <p:spPr>
            <a:xfrm>
              <a:off x="5715000" y="42037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Freeform 270"/>
            <p:cNvSpPr/>
            <p:nvPr/>
          </p:nvSpPr>
          <p:spPr>
            <a:xfrm>
              <a:off x="5715000" y="4432300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 h="0">
                  <a:moveTo>
                    <a:pt x="0" y="0"/>
                  </a:moveTo>
                  <a:lnTo>
                    <a:pt x="2222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5715000" y="46609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715000" y="55245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5715000" y="57531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5715000" y="5981700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 h="0">
                  <a:moveTo>
                    <a:pt x="0" y="0"/>
                  </a:moveTo>
                  <a:lnTo>
                    <a:pt x="2222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Freeform 275"/>
            <p:cNvSpPr/>
            <p:nvPr/>
          </p:nvSpPr>
          <p:spPr>
            <a:xfrm>
              <a:off x="5715000" y="621030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950" y="0"/>
                  </a:lnTo>
                </a:path>
              </a:pathLst>
            </a:custGeom>
            <a:noFill/>
            <a:ln w="8890" cap="rnd">
              <a:solidFill>
                <a:srgbClr val="C3CAD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7" name="model_A"/>
          <p:cNvGrpSpPr/>
          <p:nvPr/>
        </p:nvGrpSpPr>
        <p:grpSpPr>
          <a:xfrm>
            <a:off x="6172200" y="584200"/>
            <a:ext cx="3048000" cy="1778000"/>
            <a:chOff x="6172200" y="584200"/>
            <a:chExt cx="3048000" cy="1778000"/>
          </a:xfrm>
        </p:grpSpPr>
        <p:sp>
          <p:nvSpPr>
            <p:cNvPr id="278" name="Rounded Rectangle 277"/>
            <p:cNvSpPr/>
            <p:nvPr/>
          </p:nvSpPr>
          <p:spPr>
            <a:xfrm>
              <a:off x="6172200" y="584200"/>
              <a:ext cx="3048000" cy="1778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6324600" y="712724"/>
              <a:ext cx="463450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1" spc="100">
                  <a:solidFill>
                    <a:srgbClr val="6A7DB1"/>
                  </a:solidFill>
                  <a:latin typeface="Inter"/>
                </a:rPr>
                <a:t>MODEL A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6324600" y="828294"/>
              <a:ext cx="1631057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100" b="1">
                  <a:solidFill>
                    <a:srgbClr val="18212F"/>
                  </a:solidFill>
                  <a:latin typeface="Inter"/>
                </a:rPr>
                <a:t>Gradient-boosted trees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324600" y="1017778"/>
              <a:ext cx="1964332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8B95A7"/>
                  </a:solidFill>
                  <a:latin typeface="Inter"/>
                </a:rPr>
                <a:t>LightGBM · glucose at 15–120 min, peak, iAUC</a:t>
              </a:r>
            </a:p>
          </p:txBody>
        </p:sp>
        <p:sp>
          <p:nvSpPr>
            <p:cNvPr id="282" name="Freeform 281"/>
            <p:cNvSpPr/>
            <p:nvPr/>
          </p:nvSpPr>
          <p:spPr>
            <a:xfrm>
              <a:off x="6451600" y="1270000"/>
              <a:ext cx="215900" cy="190500"/>
            </a:xfrm>
            <a:custGeom>
              <a:avLst/>
              <a:gdLst/>
              <a:ahLst/>
              <a:cxnLst/>
              <a:rect l="l" t="t" r="r" b="b"/>
              <a:pathLst>
                <a:path w="215900" h="190500">
                  <a:moveTo>
                    <a:pt x="215900" y="0"/>
                  </a:moveTo>
                  <a:lnTo>
                    <a:pt x="0" y="1905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Freeform 282"/>
            <p:cNvSpPr/>
            <p:nvPr/>
          </p:nvSpPr>
          <p:spPr>
            <a:xfrm>
              <a:off x="6667500" y="1270000"/>
              <a:ext cx="215900" cy="190500"/>
            </a:xfrm>
            <a:custGeom>
              <a:avLst/>
              <a:gdLst/>
              <a:ahLst/>
              <a:cxnLst/>
              <a:rect l="l" t="t" r="r" b="b"/>
              <a:pathLst>
                <a:path w="215900" h="190500">
                  <a:moveTo>
                    <a:pt x="0" y="0"/>
                  </a:moveTo>
                  <a:lnTo>
                    <a:pt x="215900" y="1905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Freeform 283"/>
            <p:cNvSpPr/>
            <p:nvPr/>
          </p:nvSpPr>
          <p:spPr>
            <a:xfrm>
              <a:off x="634365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107950" y="0"/>
                  </a:moveTo>
                  <a:lnTo>
                    <a:pt x="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Freeform 284"/>
            <p:cNvSpPr/>
            <p:nvPr/>
          </p:nvSpPr>
          <p:spPr>
            <a:xfrm>
              <a:off x="645160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0" y="0"/>
                  </a:moveTo>
                  <a:lnTo>
                    <a:pt x="10795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Freeform 285"/>
            <p:cNvSpPr/>
            <p:nvPr/>
          </p:nvSpPr>
          <p:spPr>
            <a:xfrm>
              <a:off x="677545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107950" y="0"/>
                  </a:moveTo>
                  <a:lnTo>
                    <a:pt x="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Freeform 286"/>
            <p:cNvSpPr/>
            <p:nvPr/>
          </p:nvSpPr>
          <p:spPr>
            <a:xfrm>
              <a:off x="688340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0" y="0"/>
                  </a:moveTo>
                  <a:lnTo>
                    <a:pt x="10795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Oval 287"/>
            <p:cNvSpPr/>
            <p:nvPr/>
          </p:nvSpPr>
          <p:spPr>
            <a:xfrm>
              <a:off x="6623050" y="1225550"/>
              <a:ext cx="88900" cy="88900"/>
            </a:xfrm>
            <a:prstGeom prst="ellipse">
              <a:avLst/>
            </a:pr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Oval 288"/>
            <p:cNvSpPr/>
            <p:nvPr/>
          </p:nvSpPr>
          <p:spPr>
            <a:xfrm>
              <a:off x="6413500" y="1422400"/>
              <a:ext cx="76200" cy="76200"/>
            </a:xfrm>
            <a:prstGeom prst="ellipse">
              <a:avLst/>
            </a:pr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Oval 289"/>
            <p:cNvSpPr/>
            <p:nvPr/>
          </p:nvSpPr>
          <p:spPr>
            <a:xfrm>
              <a:off x="6845300" y="1422400"/>
              <a:ext cx="76200" cy="76200"/>
            </a:xfrm>
            <a:prstGeom prst="ellipse">
              <a:avLst/>
            </a:pr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Rounded Rectangle 290"/>
            <p:cNvSpPr/>
            <p:nvPr/>
          </p:nvSpPr>
          <p:spPr>
            <a:xfrm>
              <a:off x="62992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D4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65151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8D9D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ounded Rectangle 292"/>
            <p:cNvSpPr/>
            <p:nvPr/>
          </p:nvSpPr>
          <p:spPr>
            <a:xfrm>
              <a:off x="67310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5A6F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ounded Rectangle 293"/>
            <p:cNvSpPr/>
            <p:nvPr/>
          </p:nvSpPr>
          <p:spPr>
            <a:xfrm>
              <a:off x="69469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2E417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6993433" y="1386840"/>
              <a:ext cx="122832" cy="16510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1000" b="0">
                  <a:solidFill>
                    <a:srgbClr val="8B95A7"/>
                  </a:solidFill>
                  <a:latin typeface="Inter"/>
                </a:rPr>
                <a:t>+</a:t>
              </a:r>
            </a:p>
          </p:txBody>
        </p:sp>
        <p:sp>
          <p:nvSpPr>
            <p:cNvPr id="296" name="Freeform 295"/>
            <p:cNvSpPr/>
            <p:nvPr/>
          </p:nvSpPr>
          <p:spPr>
            <a:xfrm>
              <a:off x="7226300" y="1270000"/>
              <a:ext cx="215900" cy="190500"/>
            </a:xfrm>
            <a:custGeom>
              <a:avLst/>
              <a:gdLst/>
              <a:ahLst/>
              <a:cxnLst/>
              <a:rect l="l" t="t" r="r" b="b"/>
              <a:pathLst>
                <a:path w="215900" h="190500">
                  <a:moveTo>
                    <a:pt x="215900" y="0"/>
                  </a:moveTo>
                  <a:lnTo>
                    <a:pt x="0" y="1905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Freeform 296"/>
            <p:cNvSpPr/>
            <p:nvPr/>
          </p:nvSpPr>
          <p:spPr>
            <a:xfrm>
              <a:off x="7442200" y="1270000"/>
              <a:ext cx="215900" cy="190500"/>
            </a:xfrm>
            <a:custGeom>
              <a:avLst/>
              <a:gdLst/>
              <a:ahLst/>
              <a:cxnLst/>
              <a:rect l="l" t="t" r="r" b="b"/>
              <a:pathLst>
                <a:path w="215900" h="190500">
                  <a:moveTo>
                    <a:pt x="0" y="0"/>
                  </a:moveTo>
                  <a:lnTo>
                    <a:pt x="215900" y="1905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Freeform 297"/>
            <p:cNvSpPr/>
            <p:nvPr/>
          </p:nvSpPr>
          <p:spPr>
            <a:xfrm>
              <a:off x="711835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107950" y="0"/>
                  </a:moveTo>
                  <a:lnTo>
                    <a:pt x="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Freeform 298"/>
            <p:cNvSpPr/>
            <p:nvPr/>
          </p:nvSpPr>
          <p:spPr>
            <a:xfrm>
              <a:off x="722630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0" y="0"/>
                  </a:moveTo>
                  <a:lnTo>
                    <a:pt x="10795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Freeform 299"/>
            <p:cNvSpPr/>
            <p:nvPr/>
          </p:nvSpPr>
          <p:spPr>
            <a:xfrm>
              <a:off x="755015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107950" y="0"/>
                  </a:moveTo>
                  <a:lnTo>
                    <a:pt x="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Freeform 300"/>
            <p:cNvSpPr/>
            <p:nvPr/>
          </p:nvSpPr>
          <p:spPr>
            <a:xfrm>
              <a:off x="765810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0" y="0"/>
                  </a:moveTo>
                  <a:lnTo>
                    <a:pt x="10795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Oval 301"/>
            <p:cNvSpPr/>
            <p:nvPr/>
          </p:nvSpPr>
          <p:spPr>
            <a:xfrm>
              <a:off x="7397750" y="1225550"/>
              <a:ext cx="88900" cy="88900"/>
            </a:xfrm>
            <a:prstGeom prst="ellipse">
              <a:avLst/>
            </a:pr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Oval 302"/>
            <p:cNvSpPr/>
            <p:nvPr/>
          </p:nvSpPr>
          <p:spPr>
            <a:xfrm>
              <a:off x="7188200" y="1422400"/>
              <a:ext cx="76200" cy="76200"/>
            </a:xfrm>
            <a:prstGeom prst="ellipse">
              <a:avLst/>
            </a:pr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Oval 303"/>
            <p:cNvSpPr/>
            <p:nvPr/>
          </p:nvSpPr>
          <p:spPr>
            <a:xfrm>
              <a:off x="7620000" y="1422400"/>
              <a:ext cx="76200" cy="76200"/>
            </a:xfrm>
            <a:prstGeom prst="ellipse">
              <a:avLst/>
            </a:pr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Rounded Rectangle 304"/>
            <p:cNvSpPr/>
            <p:nvPr/>
          </p:nvSpPr>
          <p:spPr>
            <a:xfrm>
              <a:off x="70739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2E417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" name="Rounded Rectangle 305"/>
            <p:cNvSpPr/>
            <p:nvPr/>
          </p:nvSpPr>
          <p:spPr>
            <a:xfrm>
              <a:off x="72898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B7C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75057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6B80B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ounded Rectangle 307"/>
            <p:cNvSpPr/>
            <p:nvPr/>
          </p:nvSpPr>
          <p:spPr>
            <a:xfrm>
              <a:off x="77216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A4B2D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7768133" y="1386840"/>
              <a:ext cx="122832" cy="16510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1000" b="0">
                  <a:solidFill>
                    <a:srgbClr val="8B95A7"/>
                  </a:solidFill>
                  <a:latin typeface="Inter"/>
                </a:rPr>
                <a:t>+</a:t>
              </a:r>
            </a:p>
          </p:txBody>
        </p:sp>
        <p:sp>
          <p:nvSpPr>
            <p:cNvPr id="310" name="Freeform 309"/>
            <p:cNvSpPr/>
            <p:nvPr/>
          </p:nvSpPr>
          <p:spPr>
            <a:xfrm>
              <a:off x="8001000" y="1270000"/>
              <a:ext cx="215900" cy="190500"/>
            </a:xfrm>
            <a:custGeom>
              <a:avLst/>
              <a:gdLst/>
              <a:ahLst/>
              <a:cxnLst/>
              <a:rect l="l" t="t" r="r" b="b"/>
              <a:pathLst>
                <a:path w="215900" h="190500">
                  <a:moveTo>
                    <a:pt x="215900" y="0"/>
                  </a:moveTo>
                  <a:lnTo>
                    <a:pt x="0" y="1905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Freeform 310"/>
            <p:cNvSpPr/>
            <p:nvPr/>
          </p:nvSpPr>
          <p:spPr>
            <a:xfrm>
              <a:off x="8216900" y="1270000"/>
              <a:ext cx="215900" cy="190500"/>
            </a:xfrm>
            <a:custGeom>
              <a:avLst/>
              <a:gdLst/>
              <a:ahLst/>
              <a:cxnLst/>
              <a:rect l="l" t="t" r="r" b="b"/>
              <a:pathLst>
                <a:path w="215900" h="190500">
                  <a:moveTo>
                    <a:pt x="0" y="0"/>
                  </a:moveTo>
                  <a:lnTo>
                    <a:pt x="215900" y="1905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Freeform 311"/>
            <p:cNvSpPr/>
            <p:nvPr/>
          </p:nvSpPr>
          <p:spPr>
            <a:xfrm>
              <a:off x="789305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107950" y="0"/>
                  </a:moveTo>
                  <a:lnTo>
                    <a:pt x="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Freeform 312"/>
            <p:cNvSpPr/>
            <p:nvPr/>
          </p:nvSpPr>
          <p:spPr>
            <a:xfrm>
              <a:off x="800100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0" y="0"/>
                  </a:moveTo>
                  <a:lnTo>
                    <a:pt x="10795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832485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107950" y="0"/>
                  </a:moveTo>
                  <a:lnTo>
                    <a:pt x="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Freeform 314"/>
            <p:cNvSpPr/>
            <p:nvPr/>
          </p:nvSpPr>
          <p:spPr>
            <a:xfrm>
              <a:off x="8432800" y="1460500"/>
              <a:ext cx="107950" cy="203200"/>
            </a:xfrm>
            <a:custGeom>
              <a:avLst/>
              <a:gdLst/>
              <a:ahLst/>
              <a:cxnLst/>
              <a:rect l="l" t="t" r="r" b="b"/>
              <a:pathLst>
                <a:path w="107950" h="203200">
                  <a:moveTo>
                    <a:pt x="0" y="0"/>
                  </a:moveTo>
                  <a:lnTo>
                    <a:pt x="107950" y="203200"/>
                  </a:lnTo>
                </a:path>
              </a:pathLst>
            </a:custGeom>
            <a:noFill/>
            <a:ln w="10160" cap="rnd">
              <a:solidFill>
                <a:srgbClr val="6A7DB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Oval 315"/>
            <p:cNvSpPr/>
            <p:nvPr/>
          </p:nvSpPr>
          <p:spPr>
            <a:xfrm>
              <a:off x="8172450" y="1225550"/>
              <a:ext cx="88900" cy="88900"/>
            </a:xfrm>
            <a:prstGeom prst="ellipse">
              <a:avLst/>
            </a:pr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Oval 316"/>
            <p:cNvSpPr/>
            <p:nvPr/>
          </p:nvSpPr>
          <p:spPr>
            <a:xfrm>
              <a:off x="7962900" y="1422400"/>
              <a:ext cx="76200" cy="76200"/>
            </a:xfrm>
            <a:prstGeom prst="ellipse">
              <a:avLst/>
            </a:pr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Oval 317"/>
            <p:cNvSpPr/>
            <p:nvPr/>
          </p:nvSpPr>
          <p:spPr>
            <a:xfrm>
              <a:off x="8394700" y="1422400"/>
              <a:ext cx="76200" cy="76200"/>
            </a:xfrm>
            <a:prstGeom prst="ellipse">
              <a:avLst/>
            </a:pr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ounded Rectangle 318"/>
            <p:cNvSpPr/>
            <p:nvPr/>
          </p:nvSpPr>
          <p:spPr>
            <a:xfrm>
              <a:off x="78486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A4B2D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0" name="Rounded Rectangle 319"/>
            <p:cNvSpPr/>
            <p:nvPr/>
          </p:nvSpPr>
          <p:spPr>
            <a:xfrm>
              <a:off x="80645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3D528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1" name="Rounded Rectangle 320"/>
            <p:cNvSpPr/>
            <p:nvPr/>
          </p:nvSpPr>
          <p:spPr>
            <a:xfrm>
              <a:off x="82804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D4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8496300" y="1619250"/>
              <a:ext cx="88900" cy="88900"/>
            </a:xfrm>
            <a:prstGeom prst="roundRect">
              <a:avLst>
                <a:gd name="adj" fmla="val 25000"/>
              </a:avLst>
            </a:prstGeom>
            <a:solidFill>
              <a:srgbClr val="8D9DC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8639075" y="1374394"/>
              <a:ext cx="171648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1100" b="1">
                  <a:solidFill>
                    <a:srgbClr val="8B95A7"/>
                  </a:solidFill>
                  <a:latin typeface="Inter"/>
                </a:rPr>
                <a:t>…</a:t>
              </a: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6324600" y="2052701"/>
              <a:ext cx="457398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8B95A7"/>
                  </a:solidFill>
                  <a:latin typeface="Inter"/>
                </a:rPr>
                <a:t>Trained on</a:t>
              </a:r>
            </a:p>
          </p:txBody>
        </p:sp>
        <p:sp>
          <p:nvSpPr>
            <p:cNvPr id="325" name="Rounded Rectangle 324"/>
            <p:cNvSpPr/>
            <p:nvPr/>
          </p:nvSpPr>
          <p:spPr>
            <a:xfrm>
              <a:off x="6807398" y="2019300"/>
              <a:ext cx="958651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6877248" y="2050669"/>
              <a:ext cx="857051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0A7466"/>
                  </a:solidFill>
                  <a:latin typeface="Inter"/>
                </a:rPr>
                <a:t>CGMacros · days 1–7</a:t>
              </a:r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7816850" y="2019300"/>
              <a:ext cx="534689" cy="165100"/>
            </a:xfrm>
            <a:prstGeom prst="roundRect">
              <a:avLst>
                <a:gd name="adj" fmla="val 50000"/>
              </a:avLst>
            </a:prstGeom>
            <a:solidFill>
              <a:srgbClr val="FBF1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7886700" y="2050669"/>
              <a:ext cx="433089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9E6604"/>
                  </a:solidFill>
                  <a:latin typeface="Inter"/>
                </a:rPr>
                <a:t>BIG IDEAs</a:t>
              </a:r>
            </a:p>
          </p:txBody>
        </p:sp>
      </p:grpSp>
      <p:grpSp>
        <p:nvGrpSpPr>
          <p:cNvPr id="329" name="model_B"/>
          <p:cNvGrpSpPr/>
          <p:nvPr/>
        </p:nvGrpSpPr>
        <p:grpSpPr>
          <a:xfrm>
            <a:off x="6172200" y="2489200"/>
            <a:ext cx="3048000" cy="2565400"/>
            <a:chOff x="6172200" y="2489200"/>
            <a:chExt cx="3048000" cy="2565400"/>
          </a:xfrm>
        </p:grpSpPr>
        <p:sp>
          <p:nvSpPr>
            <p:cNvPr id="330" name="Rounded Rectangle 329"/>
            <p:cNvSpPr/>
            <p:nvPr/>
          </p:nvSpPr>
          <p:spPr>
            <a:xfrm>
              <a:off x="6172200" y="2489200"/>
              <a:ext cx="3048000" cy="2565400"/>
            </a:xfrm>
            <a:prstGeom prst="roundRect">
              <a:avLst>
                <a:gd name="adj" fmla="val 3960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6324600" y="2617724"/>
              <a:ext cx="457001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1" spc="100">
                  <a:solidFill>
                    <a:srgbClr val="6A7DB1"/>
                  </a:solidFill>
                  <a:latin typeface="Inter"/>
                </a:rPr>
                <a:t>MODEL B</a:t>
              </a:r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6324600" y="2733294"/>
              <a:ext cx="1598414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100" b="1">
                  <a:solidFill>
                    <a:srgbClr val="18212F"/>
                  </a:solidFill>
                  <a:latin typeface="Inter"/>
                </a:rPr>
                <a:t>In-context transformer</a:t>
              </a:r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6324600" y="2922778"/>
              <a:ext cx="2370137" cy="11557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00" b="0">
                  <a:solidFill>
                    <a:srgbClr val="8B95A7"/>
                  </a:solidFill>
                  <a:latin typeface="Inter"/>
                </a:rPr>
                <a:t>reads the person's past meals, outputs the whole curve</a:t>
              </a: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6254353" y="3087624"/>
              <a:ext cx="483393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1">
                  <a:solidFill>
                    <a:srgbClr val="8B95A7"/>
                  </a:solidFill>
                  <a:latin typeface="Inter"/>
                </a:rPr>
                <a:t>meal tokens</a:t>
              </a:r>
            </a:p>
          </p:txBody>
        </p:sp>
        <p:sp>
          <p:nvSpPr>
            <p:cNvPr id="335" name="Rounded Rectangle 334"/>
            <p:cNvSpPr/>
            <p:nvPr/>
          </p:nvSpPr>
          <p:spPr>
            <a:xfrm>
              <a:off x="6337300" y="3225800"/>
              <a:ext cx="317500" cy="177800"/>
            </a:xfrm>
            <a:prstGeom prst="roundRect">
              <a:avLst>
                <a:gd name="adj" fmla="val 25000"/>
              </a:avLst>
            </a:prstGeom>
            <a:solidFill>
              <a:srgbClr val="FCE8E2"/>
            </a:solidFill>
            <a:ln w="10160" cap="rnd">
              <a:solidFill>
                <a:srgbClr val="EB654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6399758" y="3271774"/>
              <a:ext cx="192583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1">
                  <a:solidFill>
                    <a:srgbClr val="EB6547"/>
                  </a:solidFill>
                  <a:latin typeface="Inter"/>
                </a:rPr>
                <a:t>new</a:t>
              </a:r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6337300" y="3467100"/>
              <a:ext cx="317500" cy="177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8890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Freeform 337"/>
            <p:cNvSpPr/>
            <p:nvPr/>
          </p:nvSpPr>
          <p:spPr>
            <a:xfrm>
              <a:off x="6381750" y="3498850"/>
              <a:ext cx="228600" cy="107950"/>
            </a:xfrm>
            <a:custGeom>
              <a:avLst/>
              <a:gdLst/>
              <a:ahLst/>
              <a:cxnLst/>
              <a:rect l="l" t="t" r="r" b="b"/>
              <a:pathLst>
                <a:path w="228600" h="107950">
                  <a:moveTo>
                    <a:pt x="0" y="52197"/>
                  </a:moveTo>
                  <a:lnTo>
                    <a:pt x="9525" y="57594"/>
                  </a:lnTo>
                  <a:lnTo>
                    <a:pt x="19050" y="68008"/>
                  </a:lnTo>
                  <a:lnTo>
                    <a:pt x="28575" y="76517"/>
                  </a:lnTo>
                  <a:lnTo>
                    <a:pt x="38100" y="85280"/>
                  </a:lnTo>
                  <a:lnTo>
                    <a:pt x="47625" y="93789"/>
                  </a:lnTo>
                  <a:lnTo>
                    <a:pt x="57150" y="101663"/>
                  </a:lnTo>
                  <a:lnTo>
                    <a:pt x="66675" y="107823"/>
                  </a:lnTo>
                  <a:lnTo>
                    <a:pt x="76200" y="107950"/>
                  </a:lnTo>
                  <a:lnTo>
                    <a:pt x="85725" y="100457"/>
                  </a:lnTo>
                  <a:lnTo>
                    <a:pt x="95250" y="88391"/>
                  </a:lnTo>
                  <a:lnTo>
                    <a:pt x="104775" y="72898"/>
                  </a:lnTo>
                  <a:lnTo>
                    <a:pt x="114300" y="55753"/>
                  </a:lnTo>
                  <a:lnTo>
                    <a:pt x="123825" y="47116"/>
                  </a:lnTo>
                  <a:lnTo>
                    <a:pt x="133350" y="36576"/>
                  </a:lnTo>
                  <a:lnTo>
                    <a:pt x="142875" y="29083"/>
                  </a:lnTo>
                  <a:lnTo>
                    <a:pt x="152400" y="26797"/>
                  </a:lnTo>
                  <a:lnTo>
                    <a:pt x="161925" y="32194"/>
                  </a:lnTo>
                  <a:lnTo>
                    <a:pt x="171450" y="32067"/>
                  </a:lnTo>
                  <a:lnTo>
                    <a:pt x="180975" y="26035"/>
                  </a:lnTo>
                  <a:lnTo>
                    <a:pt x="190500" y="21526"/>
                  </a:lnTo>
                  <a:lnTo>
                    <a:pt x="200025" y="24320"/>
                  </a:lnTo>
                  <a:lnTo>
                    <a:pt x="209550" y="18541"/>
                  </a:lnTo>
                  <a:lnTo>
                    <a:pt x="219075" y="9144"/>
                  </a:lnTo>
                  <a:lnTo>
                    <a:pt x="228600" y="0"/>
                  </a:lnTo>
                </a:path>
              </a:pathLst>
            </a:custGeom>
            <a:noFill/>
            <a:ln w="9525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ounded Rectangle 338"/>
            <p:cNvSpPr/>
            <p:nvPr/>
          </p:nvSpPr>
          <p:spPr>
            <a:xfrm>
              <a:off x="6337300" y="3695700"/>
              <a:ext cx="317500" cy="177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8890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Freeform 339"/>
            <p:cNvSpPr/>
            <p:nvPr/>
          </p:nvSpPr>
          <p:spPr>
            <a:xfrm>
              <a:off x="6381750" y="3727450"/>
              <a:ext cx="228600" cy="107950"/>
            </a:xfrm>
            <a:custGeom>
              <a:avLst/>
              <a:gdLst/>
              <a:ahLst/>
              <a:cxnLst/>
              <a:rect l="l" t="t" r="r" b="b"/>
              <a:pathLst>
                <a:path w="228600" h="107950">
                  <a:moveTo>
                    <a:pt x="0" y="107950"/>
                  </a:moveTo>
                  <a:lnTo>
                    <a:pt x="9525" y="107759"/>
                  </a:lnTo>
                  <a:lnTo>
                    <a:pt x="19050" y="106426"/>
                  </a:lnTo>
                  <a:lnTo>
                    <a:pt x="28575" y="104013"/>
                  </a:lnTo>
                  <a:lnTo>
                    <a:pt x="38100" y="100774"/>
                  </a:lnTo>
                  <a:lnTo>
                    <a:pt x="47625" y="99885"/>
                  </a:lnTo>
                  <a:lnTo>
                    <a:pt x="57150" y="103378"/>
                  </a:lnTo>
                  <a:lnTo>
                    <a:pt x="66675" y="87693"/>
                  </a:lnTo>
                  <a:lnTo>
                    <a:pt x="76200" y="80073"/>
                  </a:lnTo>
                  <a:lnTo>
                    <a:pt x="85725" y="81153"/>
                  </a:lnTo>
                  <a:lnTo>
                    <a:pt x="95250" y="90995"/>
                  </a:lnTo>
                  <a:lnTo>
                    <a:pt x="104775" y="70294"/>
                  </a:lnTo>
                  <a:lnTo>
                    <a:pt x="114300" y="65278"/>
                  </a:lnTo>
                  <a:lnTo>
                    <a:pt x="123825" y="52641"/>
                  </a:lnTo>
                  <a:lnTo>
                    <a:pt x="133350" y="38989"/>
                  </a:lnTo>
                  <a:lnTo>
                    <a:pt x="142875" y="31115"/>
                  </a:lnTo>
                  <a:lnTo>
                    <a:pt x="152400" y="23304"/>
                  </a:lnTo>
                  <a:lnTo>
                    <a:pt x="161925" y="22605"/>
                  </a:lnTo>
                  <a:lnTo>
                    <a:pt x="171450" y="36131"/>
                  </a:lnTo>
                  <a:lnTo>
                    <a:pt x="180975" y="45466"/>
                  </a:lnTo>
                  <a:lnTo>
                    <a:pt x="190500" y="44640"/>
                  </a:lnTo>
                  <a:lnTo>
                    <a:pt x="200025" y="25463"/>
                  </a:lnTo>
                  <a:lnTo>
                    <a:pt x="209550" y="3238"/>
                  </a:lnTo>
                  <a:lnTo>
                    <a:pt x="219075" y="0"/>
                  </a:lnTo>
                  <a:lnTo>
                    <a:pt x="228600" y="11112"/>
                  </a:lnTo>
                </a:path>
              </a:pathLst>
            </a:custGeom>
            <a:noFill/>
            <a:ln w="9525" cap="rnd">
              <a:solidFill>
                <a:srgbClr val="0E9C8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Rounded Rectangle 340"/>
            <p:cNvSpPr/>
            <p:nvPr/>
          </p:nvSpPr>
          <p:spPr>
            <a:xfrm>
              <a:off x="6337300" y="3924300"/>
              <a:ext cx="317500" cy="177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8890" cap="rnd">
              <a:solidFill>
                <a:srgbClr val="6E58D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Freeform 341"/>
            <p:cNvSpPr/>
            <p:nvPr/>
          </p:nvSpPr>
          <p:spPr>
            <a:xfrm>
              <a:off x="6381750" y="3956050"/>
              <a:ext cx="228600" cy="107950"/>
            </a:xfrm>
            <a:custGeom>
              <a:avLst/>
              <a:gdLst/>
              <a:ahLst/>
              <a:cxnLst/>
              <a:rect l="l" t="t" r="r" b="b"/>
              <a:pathLst>
                <a:path w="228600" h="107950">
                  <a:moveTo>
                    <a:pt x="0" y="107569"/>
                  </a:moveTo>
                  <a:lnTo>
                    <a:pt x="9525" y="107378"/>
                  </a:lnTo>
                  <a:lnTo>
                    <a:pt x="19050" y="107061"/>
                  </a:lnTo>
                  <a:lnTo>
                    <a:pt x="28575" y="107569"/>
                  </a:lnTo>
                  <a:lnTo>
                    <a:pt x="38100" y="107950"/>
                  </a:lnTo>
                  <a:lnTo>
                    <a:pt x="47625" y="102425"/>
                  </a:lnTo>
                  <a:lnTo>
                    <a:pt x="57150" y="98234"/>
                  </a:lnTo>
                  <a:lnTo>
                    <a:pt x="66675" y="96202"/>
                  </a:lnTo>
                  <a:lnTo>
                    <a:pt x="76200" y="89535"/>
                  </a:lnTo>
                  <a:lnTo>
                    <a:pt x="85725" y="75946"/>
                  </a:lnTo>
                  <a:lnTo>
                    <a:pt x="95250" y="54991"/>
                  </a:lnTo>
                  <a:lnTo>
                    <a:pt x="104775" y="37147"/>
                  </a:lnTo>
                  <a:lnTo>
                    <a:pt x="114300" y="26670"/>
                  </a:lnTo>
                  <a:lnTo>
                    <a:pt x="123825" y="25590"/>
                  </a:lnTo>
                  <a:lnTo>
                    <a:pt x="133350" y="21526"/>
                  </a:lnTo>
                  <a:lnTo>
                    <a:pt x="142875" y="8445"/>
                  </a:lnTo>
                  <a:lnTo>
                    <a:pt x="152400" y="0"/>
                  </a:lnTo>
                  <a:lnTo>
                    <a:pt x="161925" y="2921"/>
                  </a:lnTo>
                  <a:lnTo>
                    <a:pt x="171450" y="14732"/>
                  </a:lnTo>
                  <a:lnTo>
                    <a:pt x="180975" y="20574"/>
                  </a:lnTo>
                  <a:lnTo>
                    <a:pt x="190500" y="17272"/>
                  </a:lnTo>
                  <a:lnTo>
                    <a:pt x="200025" y="12890"/>
                  </a:lnTo>
                  <a:lnTo>
                    <a:pt x="209550" y="9715"/>
                  </a:lnTo>
                  <a:lnTo>
                    <a:pt x="219075" y="4762"/>
                  </a:lnTo>
                  <a:lnTo>
                    <a:pt x="228600" y="0"/>
                  </a:lnTo>
                </a:path>
              </a:pathLst>
            </a:custGeom>
            <a:noFill/>
            <a:ln w="9525" cap="rnd">
              <a:solidFill>
                <a:srgbClr val="6E58D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Oval 342"/>
            <p:cNvSpPr/>
            <p:nvPr/>
          </p:nvSpPr>
          <p:spPr>
            <a:xfrm>
              <a:off x="6484620" y="4179570"/>
              <a:ext cx="22860" cy="22860"/>
            </a:xfrm>
            <a:prstGeom prst="ellipse">
              <a:avLst/>
            </a:pr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Oval 343"/>
            <p:cNvSpPr/>
            <p:nvPr/>
          </p:nvSpPr>
          <p:spPr>
            <a:xfrm>
              <a:off x="6484620" y="4224020"/>
              <a:ext cx="22860" cy="22860"/>
            </a:xfrm>
            <a:prstGeom prst="ellipse">
              <a:avLst/>
            </a:pr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Oval 344"/>
            <p:cNvSpPr/>
            <p:nvPr/>
          </p:nvSpPr>
          <p:spPr>
            <a:xfrm>
              <a:off x="6484620" y="4268470"/>
              <a:ext cx="22860" cy="22860"/>
            </a:xfrm>
            <a:prstGeom prst="ellipse">
              <a:avLst/>
            </a:pr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6326038" y="4344924"/>
              <a:ext cx="340022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0">
                  <a:solidFill>
                    <a:srgbClr val="8B95A7"/>
                  </a:solidFill>
                  <a:latin typeface="Inter"/>
                </a:rPr>
                <a:t>up to 30</a:t>
              </a:r>
            </a:p>
          </p:txBody>
        </p:sp>
        <p:sp>
          <p:nvSpPr>
            <p:cNvPr id="347" name="Freeform 346"/>
            <p:cNvSpPr/>
            <p:nvPr/>
          </p:nvSpPr>
          <p:spPr>
            <a:xfrm>
              <a:off x="6705600" y="3746500"/>
              <a:ext cx="124459" cy="0"/>
            </a:xfrm>
            <a:custGeom>
              <a:avLst/>
              <a:gdLst/>
              <a:ahLst/>
              <a:cxnLst/>
              <a:rect l="l" t="t" r="r" b="b"/>
              <a:pathLst>
                <a:path w="124459" h="0">
                  <a:moveTo>
                    <a:pt x="0" y="0"/>
                  </a:moveTo>
                  <a:lnTo>
                    <a:pt x="124459" y="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Freeform 347"/>
            <p:cNvSpPr/>
            <p:nvPr/>
          </p:nvSpPr>
          <p:spPr>
            <a:xfrm>
              <a:off x="6819900" y="371856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50800" y="27940"/>
                  </a:moveTo>
                  <a:lnTo>
                    <a:pt x="0" y="55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Freeform 348"/>
            <p:cNvSpPr/>
            <p:nvPr/>
          </p:nvSpPr>
          <p:spPr>
            <a:xfrm>
              <a:off x="7029450" y="3225800"/>
              <a:ext cx="215900" cy="1016000"/>
            </a:xfrm>
            <a:custGeom>
              <a:avLst/>
              <a:gdLst/>
              <a:ahLst/>
              <a:cxnLst/>
              <a:rect l="l" t="t" r="r" b="b"/>
              <a:pathLst>
                <a:path w="215900" h="1016000">
                  <a:moveTo>
                    <a:pt x="0" y="127000"/>
                  </a:moveTo>
                  <a:lnTo>
                    <a:pt x="215900" y="0"/>
                  </a:lnTo>
                  <a:lnTo>
                    <a:pt x="215900" y="889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Freeform 349"/>
            <p:cNvSpPr/>
            <p:nvPr/>
          </p:nvSpPr>
          <p:spPr>
            <a:xfrm>
              <a:off x="6959600" y="3225800"/>
              <a:ext cx="285750" cy="127000"/>
            </a:xfrm>
            <a:custGeom>
              <a:avLst/>
              <a:gdLst/>
              <a:ahLst/>
              <a:cxnLst/>
              <a:rect l="l" t="t" r="r" b="b"/>
              <a:pathLst>
                <a:path w="285750" h="127000">
                  <a:moveTo>
                    <a:pt x="0" y="127000"/>
                  </a:moveTo>
                  <a:lnTo>
                    <a:pt x="215900" y="0"/>
                  </a:lnTo>
                  <a:lnTo>
                    <a:pt x="285750" y="0"/>
                  </a:lnTo>
                  <a:lnTo>
                    <a:pt x="69850" y="127000"/>
                  </a:lnTo>
                  <a:close/>
                </a:path>
              </a:pathLst>
            </a:cu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Rectangle 350"/>
            <p:cNvSpPr/>
            <p:nvPr/>
          </p:nvSpPr>
          <p:spPr>
            <a:xfrm>
              <a:off x="6959600" y="3352800"/>
              <a:ext cx="69850" cy="889000"/>
            </a:xfrm>
            <a:prstGeom prst="rect">
              <a:avLst/>
            </a:pr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Freeform 351"/>
            <p:cNvSpPr/>
            <p:nvPr/>
          </p:nvSpPr>
          <p:spPr>
            <a:xfrm>
              <a:off x="7346950" y="3225800"/>
              <a:ext cx="215900" cy="1016000"/>
            </a:xfrm>
            <a:custGeom>
              <a:avLst/>
              <a:gdLst/>
              <a:ahLst/>
              <a:cxnLst/>
              <a:rect l="l" t="t" r="r" b="b"/>
              <a:pathLst>
                <a:path w="215900" h="1016000">
                  <a:moveTo>
                    <a:pt x="0" y="127000"/>
                  </a:moveTo>
                  <a:lnTo>
                    <a:pt x="215900" y="0"/>
                  </a:lnTo>
                  <a:lnTo>
                    <a:pt x="215900" y="889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Freeform 352"/>
            <p:cNvSpPr/>
            <p:nvPr/>
          </p:nvSpPr>
          <p:spPr>
            <a:xfrm>
              <a:off x="7277100" y="3225800"/>
              <a:ext cx="285750" cy="127000"/>
            </a:xfrm>
            <a:custGeom>
              <a:avLst/>
              <a:gdLst/>
              <a:ahLst/>
              <a:cxnLst/>
              <a:rect l="l" t="t" r="r" b="b"/>
              <a:pathLst>
                <a:path w="285750" h="127000">
                  <a:moveTo>
                    <a:pt x="0" y="127000"/>
                  </a:moveTo>
                  <a:lnTo>
                    <a:pt x="215900" y="0"/>
                  </a:lnTo>
                  <a:lnTo>
                    <a:pt x="285750" y="0"/>
                  </a:lnTo>
                  <a:lnTo>
                    <a:pt x="69850" y="127000"/>
                  </a:lnTo>
                  <a:close/>
                </a:path>
              </a:pathLst>
            </a:cu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7277100" y="3352800"/>
              <a:ext cx="69850" cy="889000"/>
            </a:xfrm>
            <a:prstGeom prst="rect">
              <a:avLst/>
            </a:pr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Freeform 354"/>
            <p:cNvSpPr/>
            <p:nvPr/>
          </p:nvSpPr>
          <p:spPr>
            <a:xfrm>
              <a:off x="7664450" y="3225800"/>
              <a:ext cx="215900" cy="1016000"/>
            </a:xfrm>
            <a:custGeom>
              <a:avLst/>
              <a:gdLst/>
              <a:ahLst/>
              <a:cxnLst/>
              <a:rect l="l" t="t" r="r" b="b"/>
              <a:pathLst>
                <a:path w="215900" h="1016000">
                  <a:moveTo>
                    <a:pt x="0" y="127000"/>
                  </a:moveTo>
                  <a:lnTo>
                    <a:pt x="215900" y="0"/>
                  </a:lnTo>
                  <a:lnTo>
                    <a:pt x="215900" y="889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3A4C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Freeform 355"/>
            <p:cNvSpPr/>
            <p:nvPr/>
          </p:nvSpPr>
          <p:spPr>
            <a:xfrm>
              <a:off x="7594600" y="3225800"/>
              <a:ext cx="285750" cy="127000"/>
            </a:xfrm>
            <a:custGeom>
              <a:avLst/>
              <a:gdLst/>
              <a:ahLst/>
              <a:cxnLst/>
              <a:rect l="l" t="t" r="r" b="b"/>
              <a:pathLst>
                <a:path w="285750" h="127000">
                  <a:moveTo>
                    <a:pt x="0" y="127000"/>
                  </a:moveTo>
                  <a:lnTo>
                    <a:pt x="215900" y="0"/>
                  </a:lnTo>
                  <a:lnTo>
                    <a:pt x="285750" y="0"/>
                  </a:lnTo>
                  <a:lnTo>
                    <a:pt x="69850" y="127000"/>
                  </a:lnTo>
                  <a:close/>
                </a:path>
              </a:pathLst>
            </a:cu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7594600" y="3352800"/>
              <a:ext cx="69850" cy="889000"/>
            </a:xfrm>
            <a:prstGeom prst="rect">
              <a:avLst/>
            </a:pr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6880721" y="4326001"/>
              <a:ext cx="945157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50" b="1">
                  <a:solidFill>
                    <a:srgbClr val="475467"/>
                  </a:solidFill>
                  <a:latin typeface="Inter"/>
                </a:rPr>
                <a:t>Transformer layers × 3</a:t>
              </a:r>
            </a:p>
          </p:txBody>
        </p:sp>
        <p:sp>
          <p:nvSpPr>
            <p:cNvPr id="359" name="Freeform 358"/>
            <p:cNvSpPr/>
            <p:nvPr/>
          </p:nvSpPr>
          <p:spPr>
            <a:xfrm>
              <a:off x="7912100" y="3746500"/>
              <a:ext cx="73659" cy="0"/>
            </a:xfrm>
            <a:custGeom>
              <a:avLst/>
              <a:gdLst/>
              <a:ahLst/>
              <a:cxnLst/>
              <a:rect l="l" t="t" r="r" b="b"/>
              <a:pathLst>
                <a:path w="73659" h="0">
                  <a:moveTo>
                    <a:pt x="0" y="0"/>
                  </a:moveTo>
                  <a:lnTo>
                    <a:pt x="73659" y="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Freeform 359"/>
            <p:cNvSpPr/>
            <p:nvPr/>
          </p:nvSpPr>
          <p:spPr>
            <a:xfrm>
              <a:off x="7975600" y="371856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50800" y="27940"/>
                  </a:moveTo>
                  <a:lnTo>
                    <a:pt x="0" y="55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Freeform 360"/>
            <p:cNvSpPr/>
            <p:nvPr/>
          </p:nvSpPr>
          <p:spPr>
            <a:xfrm>
              <a:off x="8140700" y="3429000"/>
              <a:ext cx="152400" cy="622300"/>
            </a:xfrm>
            <a:custGeom>
              <a:avLst/>
              <a:gdLst/>
              <a:ahLst/>
              <a:cxnLst/>
              <a:rect l="l" t="t" r="r" b="b"/>
              <a:pathLst>
                <a:path w="152400" h="622300">
                  <a:moveTo>
                    <a:pt x="0" y="88900"/>
                  </a:moveTo>
                  <a:lnTo>
                    <a:pt x="152400" y="0"/>
                  </a:lnTo>
                  <a:lnTo>
                    <a:pt x="152400" y="5334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F2957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Freeform 361"/>
            <p:cNvSpPr/>
            <p:nvPr/>
          </p:nvSpPr>
          <p:spPr>
            <a:xfrm>
              <a:off x="8077200" y="3429000"/>
              <a:ext cx="215900" cy="88900"/>
            </a:xfrm>
            <a:custGeom>
              <a:avLst/>
              <a:gdLst/>
              <a:ahLst/>
              <a:cxnLst/>
              <a:rect l="l" t="t" r="r" b="b"/>
              <a:pathLst>
                <a:path w="215900" h="88900">
                  <a:moveTo>
                    <a:pt x="0" y="88900"/>
                  </a:moveTo>
                  <a:lnTo>
                    <a:pt x="152400" y="0"/>
                  </a:lnTo>
                  <a:lnTo>
                    <a:pt x="215900" y="0"/>
                  </a:lnTo>
                  <a:lnTo>
                    <a:pt x="63500" y="88900"/>
                  </a:lnTo>
                  <a:close/>
                </a:path>
              </a:pathLst>
            </a:custGeom>
            <a:solidFill>
              <a:srgbClr val="F7B9A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8077200" y="3517900"/>
              <a:ext cx="63500" cy="533400"/>
            </a:xfrm>
            <a:prstGeom prst="rect">
              <a:avLst/>
            </a:prstGeom>
            <a:solidFill>
              <a:srgbClr val="EB65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TextBox 363"/>
            <p:cNvSpPr txBox="1"/>
            <p:nvPr/>
          </p:nvSpPr>
          <p:spPr>
            <a:xfrm>
              <a:off x="7895580" y="4122801"/>
              <a:ext cx="579139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50" b="1">
                  <a:solidFill>
                    <a:srgbClr val="475467"/>
                  </a:solidFill>
                  <a:latin typeface="Inter"/>
                </a:rPr>
                <a:t>quantile head</a:t>
              </a:r>
            </a:p>
          </p:txBody>
        </p:sp>
        <p:sp>
          <p:nvSpPr>
            <p:cNvPr id="365" name="Freeform 364"/>
            <p:cNvSpPr/>
            <p:nvPr/>
          </p:nvSpPr>
          <p:spPr>
            <a:xfrm>
              <a:off x="8331200" y="3746500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 h="0">
                  <a:moveTo>
                    <a:pt x="0" y="0"/>
                  </a:moveTo>
                  <a:lnTo>
                    <a:pt x="73660" y="0"/>
                  </a:lnTo>
                </a:path>
              </a:pathLst>
            </a:custGeom>
            <a:noFill/>
            <a:ln w="11430" cap="rnd">
              <a:solidFill>
                <a:srgbClr val="8B95A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6" name="Freeform 365"/>
            <p:cNvSpPr/>
            <p:nvPr/>
          </p:nvSpPr>
          <p:spPr>
            <a:xfrm>
              <a:off x="8394700" y="3718560"/>
              <a:ext cx="50800" cy="55880"/>
            </a:xfrm>
            <a:custGeom>
              <a:avLst/>
              <a:gdLst/>
              <a:ahLst/>
              <a:cxnLst/>
              <a:rect l="l" t="t" r="r" b="b"/>
              <a:pathLst>
                <a:path w="50800" h="55880">
                  <a:moveTo>
                    <a:pt x="50800" y="27940"/>
                  </a:moveTo>
                  <a:lnTo>
                    <a:pt x="0" y="55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5A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Freeform 366"/>
            <p:cNvSpPr/>
            <p:nvPr/>
          </p:nvSpPr>
          <p:spPr>
            <a:xfrm>
              <a:off x="8496300" y="3467100"/>
              <a:ext cx="571500" cy="546100"/>
            </a:xfrm>
            <a:custGeom>
              <a:avLst/>
              <a:gdLst/>
              <a:ahLst/>
              <a:cxnLst/>
              <a:rect l="l" t="t" r="r" b="b"/>
              <a:pathLst>
                <a:path w="571500" h="546100">
                  <a:moveTo>
                    <a:pt x="0" y="527494"/>
                  </a:moveTo>
                  <a:lnTo>
                    <a:pt x="23812" y="520890"/>
                  </a:lnTo>
                  <a:lnTo>
                    <a:pt x="47625" y="501269"/>
                  </a:lnTo>
                  <a:lnTo>
                    <a:pt x="71437" y="478726"/>
                  </a:lnTo>
                  <a:lnTo>
                    <a:pt x="95250" y="444182"/>
                  </a:lnTo>
                  <a:lnTo>
                    <a:pt x="119062" y="392747"/>
                  </a:lnTo>
                  <a:lnTo>
                    <a:pt x="142875" y="354520"/>
                  </a:lnTo>
                  <a:lnTo>
                    <a:pt x="166687" y="319341"/>
                  </a:lnTo>
                  <a:lnTo>
                    <a:pt x="190500" y="271526"/>
                  </a:lnTo>
                  <a:lnTo>
                    <a:pt x="214312" y="231394"/>
                  </a:lnTo>
                  <a:lnTo>
                    <a:pt x="238125" y="205486"/>
                  </a:lnTo>
                  <a:lnTo>
                    <a:pt x="261937" y="173926"/>
                  </a:lnTo>
                  <a:lnTo>
                    <a:pt x="285750" y="143065"/>
                  </a:lnTo>
                  <a:lnTo>
                    <a:pt x="309562" y="121158"/>
                  </a:lnTo>
                  <a:lnTo>
                    <a:pt x="333375" y="101600"/>
                  </a:lnTo>
                  <a:lnTo>
                    <a:pt x="357187" y="72707"/>
                  </a:lnTo>
                  <a:lnTo>
                    <a:pt x="381000" y="59118"/>
                  </a:lnTo>
                  <a:lnTo>
                    <a:pt x="404812" y="37211"/>
                  </a:lnTo>
                  <a:lnTo>
                    <a:pt x="428625" y="30543"/>
                  </a:lnTo>
                  <a:lnTo>
                    <a:pt x="452437" y="34163"/>
                  </a:lnTo>
                  <a:lnTo>
                    <a:pt x="476250" y="17272"/>
                  </a:lnTo>
                  <a:lnTo>
                    <a:pt x="500062" y="14922"/>
                  </a:lnTo>
                  <a:lnTo>
                    <a:pt x="523875" y="10287"/>
                  </a:lnTo>
                  <a:lnTo>
                    <a:pt x="547687" y="8318"/>
                  </a:lnTo>
                  <a:lnTo>
                    <a:pt x="571500" y="0"/>
                  </a:lnTo>
                  <a:lnTo>
                    <a:pt x="571500" y="388048"/>
                  </a:lnTo>
                  <a:lnTo>
                    <a:pt x="547687" y="390398"/>
                  </a:lnTo>
                  <a:lnTo>
                    <a:pt x="523875" y="389763"/>
                  </a:lnTo>
                  <a:lnTo>
                    <a:pt x="500062" y="388429"/>
                  </a:lnTo>
                  <a:lnTo>
                    <a:pt x="476250" y="386079"/>
                  </a:lnTo>
                  <a:lnTo>
                    <a:pt x="452437" y="386778"/>
                  </a:lnTo>
                  <a:lnTo>
                    <a:pt x="428625" y="385445"/>
                  </a:lnTo>
                  <a:lnTo>
                    <a:pt x="404812" y="387730"/>
                  </a:lnTo>
                  <a:lnTo>
                    <a:pt x="381000" y="391731"/>
                  </a:lnTo>
                  <a:lnTo>
                    <a:pt x="357187" y="399669"/>
                  </a:lnTo>
                  <a:lnTo>
                    <a:pt x="333375" y="410972"/>
                  </a:lnTo>
                  <a:lnTo>
                    <a:pt x="309562" y="421259"/>
                  </a:lnTo>
                  <a:lnTo>
                    <a:pt x="285750" y="439229"/>
                  </a:lnTo>
                  <a:lnTo>
                    <a:pt x="261937" y="448183"/>
                  </a:lnTo>
                  <a:lnTo>
                    <a:pt x="238125" y="466407"/>
                  </a:lnTo>
                  <a:lnTo>
                    <a:pt x="214312" y="484378"/>
                  </a:lnTo>
                  <a:lnTo>
                    <a:pt x="190500" y="507936"/>
                  </a:lnTo>
                  <a:lnTo>
                    <a:pt x="166687" y="524827"/>
                  </a:lnTo>
                  <a:lnTo>
                    <a:pt x="142875" y="535495"/>
                  </a:lnTo>
                  <a:lnTo>
                    <a:pt x="119062" y="546100"/>
                  </a:lnTo>
                  <a:lnTo>
                    <a:pt x="95250" y="545465"/>
                  </a:lnTo>
                  <a:lnTo>
                    <a:pt x="71437" y="545465"/>
                  </a:lnTo>
                  <a:lnTo>
                    <a:pt x="47625" y="538479"/>
                  </a:lnTo>
                  <a:lnTo>
                    <a:pt x="23812" y="535813"/>
                  </a:lnTo>
                  <a:lnTo>
                    <a:pt x="0" y="527494"/>
                  </a:lnTo>
                  <a:close/>
                </a:path>
              </a:pathLst>
            </a:custGeom>
            <a:solidFill>
              <a:srgbClr val="E7EB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Freeform 367"/>
            <p:cNvSpPr/>
            <p:nvPr/>
          </p:nvSpPr>
          <p:spPr>
            <a:xfrm>
              <a:off x="8496300" y="3676586"/>
              <a:ext cx="571500" cy="320358"/>
            </a:xfrm>
            <a:custGeom>
              <a:avLst/>
              <a:gdLst/>
              <a:ahLst/>
              <a:cxnLst/>
              <a:rect l="l" t="t" r="r" b="b"/>
              <a:pathLst>
                <a:path w="571500" h="320358">
                  <a:moveTo>
                    <a:pt x="0" y="318008"/>
                  </a:moveTo>
                  <a:lnTo>
                    <a:pt x="23812" y="320358"/>
                  </a:lnTo>
                  <a:lnTo>
                    <a:pt x="47625" y="320040"/>
                  </a:lnTo>
                  <a:lnTo>
                    <a:pt x="71437" y="314706"/>
                  </a:lnTo>
                  <a:lnTo>
                    <a:pt x="95250" y="306705"/>
                  </a:lnTo>
                  <a:lnTo>
                    <a:pt x="119062" y="287465"/>
                  </a:lnTo>
                  <a:lnTo>
                    <a:pt x="142875" y="258953"/>
                  </a:lnTo>
                  <a:lnTo>
                    <a:pt x="166687" y="229044"/>
                  </a:lnTo>
                  <a:lnTo>
                    <a:pt x="190500" y="200533"/>
                  </a:lnTo>
                  <a:lnTo>
                    <a:pt x="214312" y="172593"/>
                  </a:lnTo>
                  <a:lnTo>
                    <a:pt x="238125" y="142430"/>
                  </a:lnTo>
                  <a:lnTo>
                    <a:pt x="261937" y="121476"/>
                  </a:lnTo>
                  <a:lnTo>
                    <a:pt x="285750" y="96266"/>
                  </a:lnTo>
                  <a:lnTo>
                    <a:pt x="309562" y="79693"/>
                  </a:lnTo>
                  <a:lnTo>
                    <a:pt x="333375" y="59436"/>
                  </a:lnTo>
                  <a:lnTo>
                    <a:pt x="357187" y="44133"/>
                  </a:lnTo>
                  <a:lnTo>
                    <a:pt x="381000" y="27877"/>
                  </a:lnTo>
                  <a:lnTo>
                    <a:pt x="404812" y="20256"/>
                  </a:lnTo>
                  <a:lnTo>
                    <a:pt x="428625" y="13272"/>
                  </a:lnTo>
                  <a:lnTo>
                    <a:pt x="452437" y="9589"/>
                  </a:lnTo>
                  <a:lnTo>
                    <a:pt x="476250" y="12255"/>
                  </a:lnTo>
                  <a:lnTo>
                    <a:pt x="500062" y="13272"/>
                  </a:lnTo>
                  <a:lnTo>
                    <a:pt x="523875" y="8636"/>
                  </a:lnTo>
                  <a:lnTo>
                    <a:pt x="547687" y="4953"/>
                  </a:lnTo>
                  <a:lnTo>
                    <a:pt x="571500" y="0"/>
                  </a:lnTo>
                </a:path>
              </a:pathLst>
            </a:custGeom>
            <a:noFill/>
            <a:ln w="1524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8496300" y="4038600"/>
              <a:ext cx="571500" cy="7620"/>
            </a:xfrm>
            <a:prstGeom prst="rect">
              <a:avLst/>
            </a:prstGeom>
            <a:solidFill>
              <a:srgbClr val="C9D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8497093" y="4122801"/>
              <a:ext cx="569912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50" b="1">
                  <a:solidFill>
                    <a:srgbClr val="475467"/>
                  </a:solidFill>
                  <a:latin typeface="Inter"/>
                </a:rPr>
                <a:t>10 / 50 / 90%</a:t>
              </a:r>
            </a:p>
          </p:txBody>
        </p:sp>
        <p:sp>
          <p:nvSpPr>
            <p:cNvPr id="371" name="Oval 370"/>
            <p:cNvSpPr/>
            <p:nvPr/>
          </p:nvSpPr>
          <p:spPr>
            <a:xfrm>
              <a:off x="6324600" y="4603750"/>
              <a:ext cx="127000" cy="127000"/>
            </a:xfrm>
            <a:prstGeom prst="ellipse">
              <a:avLst/>
            </a:prstGeom>
            <a:solidFill>
              <a:srgbClr val="6E58D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6352629" y="4621149"/>
              <a:ext cx="70941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Inter"/>
                </a:rPr>
                <a:t>1</a:t>
              </a:r>
            </a:p>
          </p:txBody>
        </p:sp>
        <p:sp>
          <p:nvSpPr>
            <p:cNvPr id="373" name="Rounded Rectangle 372"/>
            <p:cNvSpPr/>
            <p:nvPr/>
          </p:nvSpPr>
          <p:spPr>
            <a:xfrm>
              <a:off x="6502400" y="4584700"/>
              <a:ext cx="1439068" cy="165100"/>
            </a:xfrm>
            <a:prstGeom prst="roundRect">
              <a:avLst>
                <a:gd name="adj" fmla="val 50000"/>
              </a:avLst>
            </a:prstGeom>
            <a:solidFill>
              <a:srgbClr val="ECE9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6572250" y="4616069"/>
              <a:ext cx="1337468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4F3BB0"/>
                  </a:solidFill>
                  <a:latin typeface="Inter"/>
                </a:rPr>
                <a:t>Pretrain · MetaboNet, 671k meals</a:t>
              </a:r>
            </a:p>
          </p:txBody>
        </p:sp>
        <p:sp>
          <p:nvSpPr>
            <p:cNvPr id="375" name="Oval 374"/>
            <p:cNvSpPr/>
            <p:nvPr/>
          </p:nvSpPr>
          <p:spPr>
            <a:xfrm>
              <a:off x="6324600" y="4819650"/>
              <a:ext cx="127000" cy="127000"/>
            </a:xfrm>
            <a:prstGeom prst="ellipse">
              <a:avLst/>
            </a:prstGeom>
            <a:solidFill>
              <a:srgbClr val="0E9C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6345039" y="4837049"/>
              <a:ext cx="86121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1">
                  <a:solidFill>
                    <a:srgbClr val="FFFFFF"/>
                  </a:solidFill>
                  <a:latin typeface="Inter"/>
                </a:rPr>
                <a:t>2</a:t>
              </a:r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6502400" y="4800600"/>
              <a:ext cx="1386681" cy="165100"/>
            </a:xfrm>
            <a:prstGeom prst="roundRect">
              <a:avLst>
                <a:gd name="adj" fmla="val 50000"/>
              </a:avLst>
            </a:prstGeom>
            <a:solidFill>
              <a:srgbClr val="E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6572250" y="4831969"/>
              <a:ext cx="1285081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0A7466"/>
                  </a:solidFill>
                  <a:latin typeface="Inter"/>
                </a:rPr>
                <a:t>Fine-tune · CGMacros, days 1–7</a:t>
              </a:r>
            </a:p>
          </p:txBody>
        </p:sp>
      </p:grpSp>
      <p:grpSp>
        <p:nvGrpSpPr>
          <p:cNvPr id="379" name="profile_models"/>
          <p:cNvGrpSpPr/>
          <p:nvPr/>
        </p:nvGrpSpPr>
        <p:grpSpPr>
          <a:xfrm>
            <a:off x="6172200" y="5346700"/>
            <a:ext cx="3048000" cy="889000"/>
            <a:chOff x="6172200" y="5346700"/>
            <a:chExt cx="3048000" cy="889000"/>
          </a:xfrm>
        </p:grpSpPr>
        <p:sp>
          <p:nvSpPr>
            <p:cNvPr id="380" name="Rounded Rectangle 379"/>
            <p:cNvSpPr/>
            <p:nvPr/>
          </p:nvSpPr>
          <p:spPr>
            <a:xfrm>
              <a:off x="6172200" y="5346700"/>
              <a:ext cx="3048000" cy="4064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6324600" y="5418709"/>
              <a:ext cx="851396" cy="14033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850" b="1">
                  <a:solidFill>
                    <a:srgbClr val="18212F"/>
                  </a:solidFill>
                  <a:latin typeface="Inter"/>
                </a:rPr>
                <a:t>HbA1c estimate</a:t>
              </a: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6324600" y="5570601"/>
              <a:ext cx="1190625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8B95A7"/>
                  </a:solidFill>
                  <a:latin typeface="Inter"/>
                </a:rPr>
                <a:t>Ridge regression · 261 people</a:t>
              </a:r>
            </a:p>
          </p:txBody>
        </p:sp>
        <p:sp>
          <p:nvSpPr>
            <p:cNvPr id="383" name="Oval 382"/>
            <p:cNvSpPr/>
            <p:nvPr/>
          </p:nvSpPr>
          <p:spPr>
            <a:xfrm>
              <a:off x="8528050" y="56070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Oval 383"/>
            <p:cNvSpPr/>
            <p:nvPr/>
          </p:nvSpPr>
          <p:spPr>
            <a:xfrm>
              <a:off x="8591550" y="55816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Oval 384"/>
            <p:cNvSpPr/>
            <p:nvPr/>
          </p:nvSpPr>
          <p:spPr>
            <a:xfrm>
              <a:off x="8642350" y="55943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Oval 385"/>
            <p:cNvSpPr/>
            <p:nvPr/>
          </p:nvSpPr>
          <p:spPr>
            <a:xfrm>
              <a:off x="8705850" y="55308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Oval 386"/>
            <p:cNvSpPr/>
            <p:nvPr/>
          </p:nvSpPr>
          <p:spPr>
            <a:xfrm>
              <a:off x="8769350" y="55435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Oval 387"/>
            <p:cNvSpPr/>
            <p:nvPr/>
          </p:nvSpPr>
          <p:spPr>
            <a:xfrm>
              <a:off x="8820150" y="54927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Oval 388"/>
            <p:cNvSpPr/>
            <p:nvPr/>
          </p:nvSpPr>
          <p:spPr>
            <a:xfrm>
              <a:off x="8896350" y="54800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Oval 389"/>
            <p:cNvSpPr/>
            <p:nvPr/>
          </p:nvSpPr>
          <p:spPr>
            <a:xfrm>
              <a:off x="8947150" y="54419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Oval 390"/>
            <p:cNvSpPr/>
            <p:nvPr/>
          </p:nvSpPr>
          <p:spPr>
            <a:xfrm>
              <a:off x="9023350" y="5454650"/>
              <a:ext cx="38100" cy="38100"/>
            </a:xfrm>
            <a:prstGeom prst="ellipse">
              <a:avLst/>
            </a:prstGeom>
            <a:solidFill>
              <a:srgbClr val="6A7D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Freeform 391"/>
            <p:cNvSpPr/>
            <p:nvPr/>
          </p:nvSpPr>
          <p:spPr>
            <a:xfrm>
              <a:off x="8509000" y="5435600"/>
              <a:ext cx="571500" cy="215900"/>
            </a:xfrm>
            <a:custGeom>
              <a:avLst/>
              <a:gdLst/>
              <a:ahLst/>
              <a:cxnLst/>
              <a:rect l="l" t="t" r="r" b="b"/>
              <a:pathLst>
                <a:path w="571500" h="215900">
                  <a:moveTo>
                    <a:pt x="0" y="215900"/>
                  </a:moveTo>
                  <a:lnTo>
                    <a:pt x="571500" y="0"/>
                  </a:lnTo>
                </a:path>
              </a:pathLst>
            </a:custGeom>
            <a:noFill/>
            <a:ln w="1397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ounded Rectangle 392"/>
            <p:cNvSpPr/>
            <p:nvPr/>
          </p:nvSpPr>
          <p:spPr>
            <a:xfrm>
              <a:off x="6172200" y="5829300"/>
              <a:ext cx="3048000" cy="4064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6324600" y="5901309"/>
              <a:ext cx="1098053" cy="14033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850" b="1">
                  <a:solidFill>
                    <a:srgbClr val="18212F"/>
                  </a:solidFill>
                  <a:latin typeface="Inter"/>
                </a:rPr>
                <a:t>Type 2 diabetes risk</a:t>
              </a: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6324600" y="6053201"/>
              <a:ext cx="1291232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8B95A7"/>
                  </a:solidFill>
                  <a:latin typeface="Inter"/>
                </a:rPr>
                <a:t>Logistic regression · 208 people</a:t>
              </a:r>
            </a:p>
          </p:txBody>
        </p:sp>
        <p:sp>
          <p:nvSpPr>
            <p:cNvPr id="396" name="Freeform 395"/>
            <p:cNvSpPr/>
            <p:nvPr/>
          </p:nvSpPr>
          <p:spPr>
            <a:xfrm>
              <a:off x="8509000" y="5919724"/>
              <a:ext cx="571500" cy="225552"/>
            </a:xfrm>
            <a:custGeom>
              <a:avLst/>
              <a:gdLst/>
              <a:ahLst/>
              <a:cxnLst/>
              <a:rect l="l" t="t" r="r" b="b"/>
              <a:pathLst>
                <a:path w="571500" h="225552">
                  <a:moveTo>
                    <a:pt x="0" y="225552"/>
                  </a:moveTo>
                  <a:lnTo>
                    <a:pt x="19050" y="224917"/>
                  </a:lnTo>
                  <a:lnTo>
                    <a:pt x="38100" y="224091"/>
                  </a:lnTo>
                  <a:lnTo>
                    <a:pt x="57150" y="222948"/>
                  </a:lnTo>
                  <a:lnTo>
                    <a:pt x="76200" y="221361"/>
                  </a:lnTo>
                  <a:lnTo>
                    <a:pt x="95250" y="219202"/>
                  </a:lnTo>
                  <a:lnTo>
                    <a:pt x="114300" y="216217"/>
                  </a:lnTo>
                  <a:lnTo>
                    <a:pt x="133350" y="212217"/>
                  </a:lnTo>
                  <a:lnTo>
                    <a:pt x="152400" y="206883"/>
                  </a:lnTo>
                  <a:lnTo>
                    <a:pt x="171450" y="199834"/>
                  </a:lnTo>
                  <a:lnTo>
                    <a:pt x="190500" y="190754"/>
                  </a:lnTo>
                  <a:lnTo>
                    <a:pt x="209550" y="179387"/>
                  </a:lnTo>
                  <a:lnTo>
                    <a:pt x="228600" y="165608"/>
                  </a:lnTo>
                  <a:lnTo>
                    <a:pt x="247650" y="149542"/>
                  </a:lnTo>
                  <a:lnTo>
                    <a:pt x="266700" y="131635"/>
                  </a:lnTo>
                  <a:lnTo>
                    <a:pt x="285750" y="112776"/>
                  </a:lnTo>
                  <a:lnTo>
                    <a:pt x="304800" y="93916"/>
                  </a:lnTo>
                  <a:lnTo>
                    <a:pt x="323850" y="76009"/>
                  </a:lnTo>
                  <a:lnTo>
                    <a:pt x="342900" y="59944"/>
                  </a:lnTo>
                  <a:lnTo>
                    <a:pt x="361950" y="46164"/>
                  </a:lnTo>
                  <a:lnTo>
                    <a:pt x="381000" y="34798"/>
                  </a:lnTo>
                  <a:lnTo>
                    <a:pt x="400050" y="25717"/>
                  </a:lnTo>
                  <a:lnTo>
                    <a:pt x="419100" y="18669"/>
                  </a:lnTo>
                  <a:lnTo>
                    <a:pt x="438150" y="13335"/>
                  </a:lnTo>
                  <a:lnTo>
                    <a:pt x="457200" y="9334"/>
                  </a:lnTo>
                  <a:lnTo>
                    <a:pt x="476250" y="6350"/>
                  </a:lnTo>
                  <a:lnTo>
                    <a:pt x="495300" y="4191"/>
                  </a:lnTo>
                  <a:lnTo>
                    <a:pt x="514350" y="2603"/>
                  </a:lnTo>
                  <a:lnTo>
                    <a:pt x="533400" y="1460"/>
                  </a:lnTo>
                  <a:lnTo>
                    <a:pt x="552450" y="635"/>
                  </a:lnTo>
                  <a:lnTo>
                    <a:pt x="571500" y="0"/>
                  </a:lnTo>
                </a:path>
              </a:pathLst>
            </a:custGeom>
            <a:noFill/>
            <a:ln w="1524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ectangle 396"/>
            <p:cNvSpPr/>
            <p:nvPr/>
          </p:nvSpPr>
          <p:spPr>
            <a:xfrm>
              <a:off x="8509000" y="6153150"/>
              <a:ext cx="571500" cy="7620"/>
            </a:xfrm>
            <a:prstGeom prst="rect">
              <a:avLst/>
            </a:prstGeom>
            <a:solidFill>
              <a:srgbClr val="C9D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8" name="prediction"/>
          <p:cNvGrpSpPr/>
          <p:nvPr/>
        </p:nvGrpSpPr>
        <p:grpSpPr>
          <a:xfrm>
            <a:off x="9220200" y="584200"/>
            <a:ext cx="2667000" cy="5562600"/>
            <a:chOff x="9220200" y="584200"/>
            <a:chExt cx="2667000" cy="5562600"/>
          </a:xfrm>
        </p:grpSpPr>
        <p:sp>
          <p:nvSpPr>
            <p:cNvPr id="399" name="Freeform 398"/>
            <p:cNvSpPr/>
            <p:nvPr/>
          </p:nvSpPr>
          <p:spPr>
            <a:xfrm>
              <a:off x="9220200" y="1473200"/>
              <a:ext cx="264731" cy="1111504"/>
            </a:xfrm>
            <a:custGeom>
              <a:avLst/>
              <a:gdLst/>
              <a:ahLst/>
              <a:cxnLst/>
              <a:rect l="l" t="t" r="r" b="b"/>
              <a:pathLst>
                <a:path w="264731" h="1111504">
                  <a:moveTo>
                    <a:pt x="0" y="0"/>
                  </a:moveTo>
                  <a:lnTo>
                    <a:pt x="26035" y="3048"/>
                  </a:lnTo>
                  <a:lnTo>
                    <a:pt x="49720" y="12001"/>
                  </a:lnTo>
                  <a:lnTo>
                    <a:pt x="71247" y="26416"/>
                  </a:lnTo>
                  <a:lnTo>
                    <a:pt x="90741" y="45974"/>
                  </a:lnTo>
                  <a:lnTo>
                    <a:pt x="108331" y="70421"/>
                  </a:lnTo>
                  <a:lnTo>
                    <a:pt x="124079" y="99314"/>
                  </a:lnTo>
                  <a:lnTo>
                    <a:pt x="138239" y="132270"/>
                  </a:lnTo>
                  <a:lnTo>
                    <a:pt x="150749" y="168973"/>
                  </a:lnTo>
                  <a:lnTo>
                    <a:pt x="161925" y="209105"/>
                  </a:lnTo>
                  <a:lnTo>
                    <a:pt x="171767" y="252285"/>
                  </a:lnTo>
                  <a:lnTo>
                    <a:pt x="180467" y="298195"/>
                  </a:lnTo>
                  <a:lnTo>
                    <a:pt x="188087" y="346392"/>
                  </a:lnTo>
                  <a:lnTo>
                    <a:pt x="194881" y="396620"/>
                  </a:lnTo>
                  <a:lnTo>
                    <a:pt x="200787" y="448437"/>
                  </a:lnTo>
                  <a:lnTo>
                    <a:pt x="206121" y="501586"/>
                  </a:lnTo>
                  <a:lnTo>
                    <a:pt x="210883" y="555688"/>
                  </a:lnTo>
                  <a:lnTo>
                    <a:pt x="215265" y="610362"/>
                  </a:lnTo>
                  <a:lnTo>
                    <a:pt x="219392" y="665226"/>
                  </a:lnTo>
                  <a:lnTo>
                    <a:pt x="223329" y="720026"/>
                  </a:lnTo>
                  <a:lnTo>
                    <a:pt x="227266" y="774319"/>
                  </a:lnTo>
                  <a:lnTo>
                    <a:pt x="231267" y="827786"/>
                  </a:lnTo>
                  <a:lnTo>
                    <a:pt x="235521" y="880046"/>
                  </a:lnTo>
                  <a:lnTo>
                    <a:pt x="240157" y="930846"/>
                  </a:lnTo>
                  <a:lnTo>
                    <a:pt x="245237" y="979741"/>
                  </a:lnTo>
                  <a:lnTo>
                    <a:pt x="250952" y="1026350"/>
                  </a:lnTo>
                  <a:lnTo>
                    <a:pt x="257429" y="1070419"/>
                  </a:lnTo>
                  <a:lnTo>
                    <a:pt x="264731" y="1111504"/>
                  </a:lnTo>
                  <a:lnTo>
                    <a:pt x="262128" y="1099756"/>
                  </a:lnTo>
                </a:path>
              </a:pathLst>
            </a:custGeom>
            <a:noFill/>
            <a:ln w="1651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Freeform 399"/>
            <p:cNvSpPr/>
            <p:nvPr/>
          </p:nvSpPr>
          <p:spPr>
            <a:xfrm>
              <a:off x="9445498" y="2553017"/>
              <a:ext cx="68262" cy="69533"/>
            </a:xfrm>
            <a:custGeom>
              <a:avLst/>
              <a:gdLst/>
              <a:ahLst/>
              <a:cxnLst/>
              <a:rect l="l" t="t" r="r" b="b"/>
              <a:pathLst>
                <a:path w="68262" h="69533">
                  <a:moveTo>
                    <a:pt x="47752" y="69533"/>
                  </a:moveTo>
                  <a:lnTo>
                    <a:pt x="0" y="14986"/>
                  </a:lnTo>
                  <a:lnTo>
                    <a:pt x="68262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1" name="Freeform 400"/>
            <p:cNvSpPr/>
            <p:nvPr/>
          </p:nvSpPr>
          <p:spPr>
            <a:xfrm>
              <a:off x="9220200" y="2875343"/>
              <a:ext cx="264731" cy="871157"/>
            </a:xfrm>
            <a:custGeom>
              <a:avLst/>
              <a:gdLst/>
              <a:ahLst/>
              <a:cxnLst/>
              <a:rect l="l" t="t" r="r" b="b"/>
              <a:pathLst>
                <a:path w="264731" h="871157">
                  <a:moveTo>
                    <a:pt x="0" y="871157"/>
                  </a:moveTo>
                  <a:lnTo>
                    <a:pt x="26035" y="868998"/>
                  </a:lnTo>
                  <a:lnTo>
                    <a:pt x="49720" y="862711"/>
                  </a:lnTo>
                  <a:lnTo>
                    <a:pt x="71247" y="852487"/>
                  </a:lnTo>
                  <a:lnTo>
                    <a:pt x="90741" y="838518"/>
                  </a:lnTo>
                  <a:lnTo>
                    <a:pt x="108331" y="821055"/>
                  </a:lnTo>
                  <a:lnTo>
                    <a:pt x="124079" y="800354"/>
                  </a:lnTo>
                  <a:lnTo>
                    <a:pt x="138239" y="776605"/>
                  </a:lnTo>
                  <a:lnTo>
                    <a:pt x="150749" y="749998"/>
                  </a:lnTo>
                  <a:lnTo>
                    <a:pt x="161925" y="720789"/>
                  </a:lnTo>
                  <a:lnTo>
                    <a:pt x="171767" y="689229"/>
                  </a:lnTo>
                  <a:lnTo>
                    <a:pt x="180467" y="655447"/>
                  </a:lnTo>
                  <a:lnTo>
                    <a:pt x="188087" y="619760"/>
                  </a:lnTo>
                  <a:lnTo>
                    <a:pt x="194881" y="582295"/>
                  </a:lnTo>
                  <a:lnTo>
                    <a:pt x="200787" y="543370"/>
                  </a:lnTo>
                  <a:lnTo>
                    <a:pt x="206121" y="503111"/>
                  </a:lnTo>
                  <a:lnTo>
                    <a:pt x="210883" y="461772"/>
                  </a:lnTo>
                  <a:lnTo>
                    <a:pt x="215265" y="419672"/>
                  </a:lnTo>
                  <a:lnTo>
                    <a:pt x="219392" y="376873"/>
                  </a:lnTo>
                  <a:lnTo>
                    <a:pt x="223329" y="333693"/>
                  </a:lnTo>
                  <a:lnTo>
                    <a:pt x="227266" y="290322"/>
                  </a:lnTo>
                  <a:lnTo>
                    <a:pt x="231267" y="246952"/>
                  </a:lnTo>
                  <a:lnTo>
                    <a:pt x="235521" y="203899"/>
                  </a:lnTo>
                  <a:lnTo>
                    <a:pt x="240157" y="161290"/>
                  </a:lnTo>
                  <a:lnTo>
                    <a:pt x="245237" y="119380"/>
                  </a:lnTo>
                  <a:lnTo>
                    <a:pt x="250952" y="78359"/>
                  </a:lnTo>
                  <a:lnTo>
                    <a:pt x="257429" y="38545"/>
                  </a:lnTo>
                  <a:lnTo>
                    <a:pt x="264731" y="0"/>
                  </a:lnTo>
                  <a:lnTo>
                    <a:pt x="261874" y="12637"/>
                  </a:lnTo>
                </a:path>
              </a:pathLst>
            </a:custGeom>
            <a:noFill/>
            <a:ln w="1651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Freeform 401"/>
            <p:cNvSpPr/>
            <p:nvPr/>
          </p:nvSpPr>
          <p:spPr>
            <a:xfrm>
              <a:off x="9445244" y="2838450"/>
              <a:ext cx="68135" cy="69596"/>
            </a:xfrm>
            <a:custGeom>
              <a:avLst/>
              <a:gdLst/>
              <a:ahLst/>
              <a:cxnLst/>
              <a:rect l="l" t="t" r="r" b="b"/>
              <a:pathLst>
                <a:path w="68135" h="69596">
                  <a:moveTo>
                    <a:pt x="48006" y="0"/>
                  </a:moveTo>
                  <a:lnTo>
                    <a:pt x="68135" y="69596"/>
                  </a:lnTo>
                  <a:lnTo>
                    <a:pt x="0" y="54292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Oval 402"/>
            <p:cNvSpPr/>
            <p:nvPr/>
          </p:nvSpPr>
          <p:spPr>
            <a:xfrm>
              <a:off x="9448800" y="25781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524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TextBox 403"/>
            <p:cNvSpPr txBox="1"/>
            <p:nvPr/>
          </p:nvSpPr>
          <p:spPr>
            <a:xfrm>
              <a:off x="9536013" y="2647442"/>
              <a:ext cx="130373" cy="17335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1050" b="1">
                  <a:solidFill>
                    <a:srgbClr val="1E2C52"/>
                  </a:solidFill>
                  <a:latin typeface="Inter"/>
                </a:rPr>
                <a:t>Σ</a:t>
              </a:r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9652000" y="2941701"/>
              <a:ext cx="262036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1">
                  <a:solidFill>
                    <a:srgbClr val="8B95A7"/>
                  </a:solidFill>
                  <a:latin typeface="Inter"/>
                </a:rPr>
                <a:t>blend</a:t>
              </a:r>
            </a:p>
          </p:txBody>
        </p:sp>
        <p:sp>
          <p:nvSpPr>
            <p:cNvPr id="406" name="Freeform 405"/>
            <p:cNvSpPr/>
            <p:nvPr/>
          </p:nvSpPr>
          <p:spPr>
            <a:xfrm>
              <a:off x="9766300" y="27305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651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Freeform 406"/>
            <p:cNvSpPr/>
            <p:nvPr/>
          </p:nvSpPr>
          <p:spPr>
            <a:xfrm>
              <a:off x="9906000" y="26955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69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ounded Rectangle 407"/>
            <p:cNvSpPr/>
            <p:nvPr/>
          </p:nvSpPr>
          <p:spPr>
            <a:xfrm>
              <a:off x="9982200" y="584200"/>
              <a:ext cx="1905000" cy="44704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rnd">
              <a:solidFill>
                <a:srgbClr val="E2E6E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ounded Rectangle 408"/>
            <p:cNvSpPr/>
            <p:nvPr/>
          </p:nvSpPr>
          <p:spPr>
            <a:xfrm>
              <a:off x="9982200" y="698500"/>
              <a:ext cx="31750" cy="215900"/>
            </a:xfrm>
            <a:prstGeom prst="roundRect">
              <a:avLst>
                <a:gd name="adj" fmla="val 50000"/>
              </a:avLst>
            </a:prstGeom>
            <a:solidFill>
              <a:srgbClr val="EB65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10134600" y="720217"/>
              <a:ext cx="1211560" cy="17335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050" b="1">
                  <a:solidFill>
                    <a:srgbClr val="18212F"/>
                  </a:solidFill>
                  <a:latin typeface="Inter"/>
                </a:rPr>
                <a:t>Glucose response</a:t>
              </a:r>
            </a:p>
          </p:txBody>
        </p:sp>
        <p:sp>
          <p:nvSpPr>
            <p:cNvPr id="411" name="TextBox 410"/>
            <p:cNvSpPr txBox="1"/>
            <p:nvPr/>
          </p:nvSpPr>
          <p:spPr>
            <a:xfrm>
              <a:off x="10134600" y="909701"/>
              <a:ext cx="999926" cy="10731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50" b="0">
                  <a:solidFill>
                    <a:srgbClr val="8B95A7"/>
                  </a:solidFill>
                  <a:latin typeface="Inter"/>
                </a:rPr>
                <a:t>next 2 hours · 80% band</a:t>
              </a:r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10325100" y="2802689"/>
              <a:ext cx="14351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10136187" y="2759636"/>
              <a:ext cx="157162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r"/>
              <a:r>
                <a:rPr sz="550" b="0">
                  <a:solidFill>
                    <a:srgbClr val="8B95A7"/>
                  </a:solidFill>
                  <a:latin typeface="Inter"/>
                </a:rPr>
                <a:t>100</a:t>
              </a:r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10325100" y="2348163"/>
              <a:ext cx="14351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10138072" y="2305110"/>
              <a:ext cx="155277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r"/>
              <a:r>
                <a:rPr sz="550" b="0">
                  <a:solidFill>
                    <a:srgbClr val="8B95A7"/>
                  </a:solidFill>
                  <a:latin typeface="Inter"/>
                </a:rPr>
                <a:t>150</a:t>
              </a:r>
            </a:p>
          </p:txBody>
        </p:sp>
        <p:sp>
          <p:nvSpPr>
            <p:cNvPr id="416" name="Rectangle 415"/>
            <p:cNvSpPr/>
            <p:nvPr/>
          </p:nvSpPr>
          <p:spPr>
            <a:xfrm>
              <a:off x="10325100" y="1893636"/>
              <a:ext cx="14351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10122098" y="1850583"/>
              <a:ext cx="171251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r"/>
              <a:r>
                <a:rPr sz="550" b="0">
                  <a:solidFill>
                    <a:srgbClr val="8B95A7"/>
                  </a:solidFill>
                  <a:latin typeface="Inter"/>
                </a:rPr>
                <a:t>200</a:t>
              </a:r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10325100" y="1439110"/>
              <a:ext cx="1435100" cy="6350"/>
            </a:xfrm>
            <a:prstGeom prst="rect">
              <a:avLst/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10123983" y="1396057"/>
              <a:ext cx="169366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r"/>
              <a:r>
                <a:rPr sz="550" b="0">
                  <a:solidFill>
                    <a:srgbClr val="8B95A7"/>
                  </a:solidFill>
                  <a:latin typeface="Inter"/>
                </a:rPr>
                <a:t>250</a:t>
              </a: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10274300" y="1112647"/>
              <a:ext cx="251817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mg/dL</a:t>
              </a:r>
            </a:p>
          </p:txBody>
        </p:sp>
        <p:sp>
          <p:nvSpPr>
            <p:cNvPr id="421" name="Freeform 420"/>
            <p:cNvSpPr/>
            <p:nvPr/>
          </p:nvSpPr>
          <p:spPr>
            <a:xfrm>
              <a:off x="10803445" y="1405445"/>
              <a:ext cx="956755" cy="1495425"/>
            </a:xfrm>
            <a:custGeom>
              <a:avLst/>
              <a:gdLst/>
              <a:ahLst/>
              <a:cxnLst/>
              <a:rect l="l" t="t" r="r" b="b"/>
              <a:pathLst>
                <a:path w="956755" h="1495425">
                  <a:moveTo>
                    <a:pt x="0" y="1444498"/>
                  </a:moveTo>
                  <a:lnTo>
                    <a:pt x="39878" y="1426337"/>
                  </a:lnTo>
                  <a:lnTo>
                    <a:pt x="79756" y="1372680"/>
                  </a:lnTo>
                  <a:lnTo>
                    <a:pt x="119634" y="1310894"/>
                  </a:lnTo>
                  <a:lnTo>
                    <a:pt x="159449" y="1216343"/>
                  </a:lnTo>
                  <a:lnTo>
                    <a:pt x="199327" y="1075436"/>
                  </a:lnTo>
                  <a:lnTo>
                    <a:pt x="239205" y="970915"/>
                  </a:lnTo>
                  <a:lnTo>
                    <a:pt x="279083" y="874522"/>
                  </a:lnTo>
                  <a:lnTo>
                    <a:pt x="318961" y="743649"/>
                  </a:lnTo>
                  <a:lnTo>
                    <a:pt x="358775" y="633667"/>
                  </a:lnTo>
                  <a:lnTo>
                    <a:pt x="398653" y="562737"/>
                  </a:lnTo>
                  <a:lnTo>
                    <a:pt x="438531" y="476377"/>
                  </a:lnTo>
                  <a:lnTo>
                    <a:pt x="478409" y="391859"/>
                  </a:lnTo>
                  <a:lnTo>
                    <a:pt x="518224" y="331851"/>
                  </a:lnTo>
                  <a:lnTo>
                    <a:pt x="558102" y="278194"/>
                  </a:lnTo>
                  <a:lnTo>
                    <a:pt x="597980" y="199136"/>
                  </a:lnTo>
                  <a:lnTo>
                    <a:pt x="637858" y="161862"/>
                  </a:lnTo>
                  <a:lnTo>
                    <a:pt x="677736" y="101854"/>
                  </a:lnTo>
                  <a:lnTo>
                    <a:pt x="717550" y="83693"/>
                  </a:lnTo>
                  <a:lnTo>
                    <a:pt x="757428" y="93663"/>
                  </a:lnTo>
                  <a:lnTo>
                    <a:pt x="797306" y="47308"/>
                  </a:lnTo>
                  <a:lnTo>
                    <a:pt x="837184" y="40958"/>
                  </a:lnTo>
                  <a:lnTo>
                    <a:pt x="876999" y="28194"/>
                  </a:lnTo>
                  <a:lnTo>
                    <a:pt x="916877" y="22733"/>
                  </a:lnTo>
                  <a:lnTo>
                    <a:pt x="956755" y="0"/>
                  </a:lnTo>
                  <a:lnTo>
                    <a:pt x="956755" y="1062736"/>
                  </a:lnTo>
                  <a:lnTo>
                    <a:pt x="916877" y="1069086"/>
                  </a:lnTo>
                  <a:lnTo>
                    <a:pt x="876999" y="1067245"/>
                  </a:lnTo>
                  <a:lnTo>
                    <a:pt x="837184" y="1063625"/>
                  </a:lnTo>
                  <a:lnTo>
                    <a:pt x="797306" y="1057275"/>
                  </a:lnTo>
                  <a:lnTo>
                    <a:pt x="757428" y="1059053"/>
                  </a:lnTo>
                  <a:lnTo>
                    <a:pt x="717550" y="1055434"/>
                  </a:lnTo>
                  <a:lnTo>
                    <a:pt x="677736" y="1061784"/>
                  </a:lnTo>
                  <a:lnTo>
                    <a:pt x="637858" y="1072706"/>
                  </a:lnTo>
                  <a:lnTo>
                    <a:pt x="597980" y="1094550"/>
                  </a:lnTo>
                  <a:lnTo>
                    <a:pt x="558102" y="1125411"/>
                  </a:lnTo>
                  <a:lnTo>
                    <a:pt x="518224" y="1153605"/>
                  </a:lnTo>
                  <a:lnTo>
                    <a:pt x="478409" y="1202690"/>
                  </a:lnTo>
                  <a:lnTo>
                    <a:pt x="438531" y="1227265"/>
                  </a:lnTo>
                  <a:lnTo>
                    <a:pt x="398653" y="1277239"/>
                  </a:lnTo>
                  <a:lnTo>
                    <a:pt x="358775" y="1326325"/>
                  </a:lnTo>
                  <a:lnTo>
                    <a:pt x="318961" y="1390904"/>
                  </a:lnTo>
                  <a:lnTo>
                    <a:pt x="279083" y="1437259"/>
                  </a:lnTo>
                  <a:lnTo>
                    <a:pt x="239205" y="1466342"/>
                  </a:lnTo>
                  <a:lnTo>
                    <a:pt x="199327" y="1495425"/>
                  </a:lnTo>
                  <a:lnTo>
                    <a:pt x="159449" y="1493584"/>
                  </a:lnTo>
                  <a:lnTo>
                    <a:pt x="119634" y="1493584"/>
                  </a:lnTo>
                  <a:lnTo>
                    <a:pt x="79756" y="1474534"/>
                  </a:lnTo>
                  <a:lnTo>
                    <a:pt x="39878" y="1467231"/>
                  </a:lnTo>
                  <a:lnTo>
                    <a:pt x="0" y="1444498"/>
                  </a:lnTo>
                  <a:close/>
                </a:path>
              </a:pathLst>
            </a:custGeom>
            <a:solidFill>
              <a:srgbClr val="FCE8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Freeform 421"/>
            <p:cNvSpPr/>
            <p:nvPr/>
          </p:nvSpPr>
          <p:spPr>
            <a:xfrm>
              <a:off x="10325100" y="2788158"/>
              <a:ext cx="478345" cy="109093"/>
            </a:xfrm>
            <a:custGeom>
              <a:avLst/>
              <a:gdLst/>
              <a:ahLst/>
              <a:cxnLst/>
              <a:rect l="l" t="t" r="r" b="b"/>
              <a:pathLst>
                <a:path w="478345" h="109093">
                  <a:moveTo>
                    <a:pt x="0" y="23622"/>
                  </a:moveTo>
                  <a:lnTo>
                    <a:pt x="39878" y="0"/>
                  </a:lnTo>
                  <a:lnTo>
                    <a:pt x="79756" y="25463"/>
                  </a:lnTo>
                  <a:lnTo>
                    <a:pt x="119570" y="54546"/>
                  </a:lnTo>
                  <a:lnTo>
                    <a:pt x="159448" y="74549"/>
                  </a:lnTo>
                  <a:lnTo>
                    <a:pt x="199326" y="85407"/>
                  </a:lnTo>
                  <a:lnTo>
                    <a:pt x="239204" y="109093"/>
                  </a:lnTo>
                  <a:lnTo>
                    <a:pt x="279019" y="100012"/>
                  </a:lnTo>
                  <a:lnTo>
                    <a:pt x="318897" y="81788"/>
                  </a:lnTo>
                  <a:lnTo>
                    <a:pt x="358775" y="85407"/>
                  </a:lnTo>
                  <a:lnTo>
                    <a:pt x="398653" y="80010"/>
                  </a:lnTo>
                  <a:lnTo>
                    <a:pt x="438531" y="70866"/>
                  </a:lnTo>
                  <a:lnTo>
                    <a:pt x="478345" y="61785"/>
                  </a:lnTo>
                </a:path>
              </a:pathLst>
            </a:custGeom>
            <a:noFill/>
            <a:ln w="15240" cap="rnd">
              <a:solidFill>
                <a:srgbClr val="9AA3B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Freeform 422"/>
            <p:cNvSpPr/>
            <p:nvPr/>
          </p:nvSpPr>
          <p:spPr>
            <a:xfrm>
              <a:off x="10803445" y="1308100"/>
              <a:ext cx="0" cy="1676400"/>
            </a:xfrm>
            <a:custGeom>
              <a:avLst/>
              <a:gdLst/>
              <a:ahLst/>
              <a:cxnLst/>
              <a:rect l="l" t="t" r="r" b="b"/>
              <a:pathLst>
                <a:path w="0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8890" cap="rnd">
              <a:solidFill>
                <a:srgbClr val="B8C0C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Freeform 423"/>
            <p:cNvSpPr/>
            <p:nvPr/>
          </p:nvSpPr>
          <p:spPr>
            <a:xfrm>
              <a:off x="10803445" y="1979104"/>
              <a:ext cx="956755" cy="877189"/>
            </a:xfrm>
            <a:custGeom>
              <a:avLst/>
              <a:gdLst/>
              <a:ahLst/>
              <a:cxnLst/>
              <a:rect l="l" t="t" r="r" b="b"/>
              <a:pathLst>
                <a:path w="956755" h="877189">
                  <a:moveTo>
                    <a:pt x="0" y="870839"/>
                  </a:moveTo>
                  <a:lnTo>
                    <a:pt x="39878" y="877189"/>
                  </a:lnTo>
                  <a:lnTo>
                    <a:pt x="79756" y="876300"/>
                  </a:lnTo>
                  <a:lnTo>
                    <a:pt x="119634" y="861759"/>
                  </a:lnTo>
                  <a:lnTo>
                    <a:pt x="159449" y="839978"/>
                  </a:lnTo>
                  <a:lnTo>
                    <a:pt x="199327" y="787210"/>
                  </a:lnTo>
                  <a:lnTo>
                    <a:pt x="239205" y="709041"/>
                  </a:lnTo>
                  <a:lnTo>
                    <a:pt x="279083" y="627253"/>
                  </a:lnTo>
                  <a:lnTo>
                    <a:pt x="318961" y="549021"/>
                  </a:lnTo>
                  <a:lnTo>
                    <a:pt x="358775" y="472694"/>
                  </a:lnTo>
                  <a:lnTo>
                    <a:pt x="398653" y="389954"/>
                  </a:lnTo>
                  <a:lnTo>
                    <a:pt x="438531" y="332677"/>
                  </a:lnTo>
                  <a:lnTo>
                    <a:pt x="478409" y="263589"/>
                  </a:lnTo>
                  <a:lnTo>
                    <a:pt x="518224" y="218186"/>
                  </a:lnTo>
                  <a:lnTo>
                    <a:pt x="558102" y="162687"/>
                  </a:lnTo>
                  <a:lnTo>
                    <a:pt x="597980" y="120904"/>
                  </a:lnTo>
                  <a:lnTo>
                    <a:pt x="637858" y="76327"/>
                  </a:lnTo>
                  <a:lnTo>
                    <a:pt x="677736" y="55435"/>
                  </a:lnTo>
                  <a:lnTo>
                    <a:pt x="717550" y="36322"/>
                  </a:lnTo>
                  <a:lnTo>
                    <a:pt x="757428" y="26353"/>
                  </a:lnTo>
                  <a:lnTo>
                    <a:pt x="797306" y="33591"/>
                  </a:lnTo>
                  <a:lnTo>
                    <a:pt x="837184" y="36322"/>
                  </a:lnTo>
                  <a:lnTo>
                    <a:pt x="876999" y="23622"/>
                  </a:lnTo>
                  <a:lnTo>
                    <a:pt x="916877" y="13589"/>
                  </a:lnTo>
                  <a:lnTo>
                    <a:pt x="956755" y="0"/>
                  </a:lnTo>
                </a:path>
              </a:pathLst>
            </a:custGeom>
            <a:noFill/>
            <a:ln w="20320" cap="rnd">
              <a:solidFill>
                <a:srgbClr val="EB654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25" name="Picture 424" descr="meal_photo_049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95516" y="1092200"/>
              <a:ext cx="215900" cy="215900"/>
            </a:xfrm>
            <a:prstGeom prst="roundRect">
              <a:avLst/>
            </a:prstGeom>
          </p:spPr>
        </p:pic>
        <p:sp>
          <p:nvSpPr>
            <p:cNvPr id="426" name="TextBox 425"/>
            <p:cNvSpPr txBox="1"/>
            <p:nvPr/>
          </p:nvSpPr>
          <p:spPr>
            <a:xfrm>
              <a:off x="10231983" y="3036824"/>
              <a:ext cx="186233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0">
                  <a:solidFill>
                    <a:srgbClr val="8B95A7"/>
                  </a:solidFill>
                  <a:latin typeface="Inter"/>
                </a:rPr>
                <a:t>−60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0759810" y="3036824"/>
              <a:ext cx="87312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0">
                  <a:solidFill>
                    <a:srgbClr val="8B95A7"/>
                  </a:solidFill>
                  <a:latin typeface="Inter"/>
                </a:rPr>
                <a:t>0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11214166" y="3036824"/>
              <a:ext cx="135334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600" b="0">
                  <a:solidFill>
                    <a:srgbClr val="8B95A7"/>
                  </a:solidFill>
                  <a:latin typeface="Inter"/>
                </a:rPr>
                <a:t>60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11460261" y="3036824"/>
              <a:ext cx="318988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r"/>
              <a:r>
                <a:rPr sz="600" b="0">
                  <a:solidFill>
                    <a:srgbClr val="8B95A7"/>
                  </a:solidFill>
                  <a:latin typeface="Inter"/>
                </a:rPr>
                <a:t>120 min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10461145" y="2643491"/>
              <a:ext cx="206275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ctr"/>
              <a:r>
                <a:rPr sz="550" b="1">
                  <a:solidFill>
                    <a:srgbClr val="9AA3B2"/>
                  </a:solidFill>
                  <a:latin typeface="Inter"/>
                </a:rPr>
                <a:t>CGM</a:t>
              </a:r>
            </a:p>
          </p:txBody>
        </p:sp>
        <p:sp>
          <p:nvSpPr>
            <p:cNvPr id="431" name="Rounded Rectangle 430"/>
            <p:cNvSpPr/>
            <p:nvPr/>
          </p:nvSpPr>
          <p:spPr>
            <a:xfrm>
              <a:off x="10134600" y="3352800"/>
              <a:ext cx="762000" cy="508000"/>
            </a:xfrm>
            <a:prstGeom prst="roundRect">
              <a:avLst>
                <a:gd name="adj" fmla="val 15000"/>
              </a:avLst>
            </a:prstGeom>
            <a:solidFill>
              <a:srgbClr val="F7F8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10223500" y="3430524"/>
              <a:ext cx="526355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0">
                  <a:solidFill>
                    <a:srgbClr val="8B95A7"/>
                  </a:solidFill>
                  <a:latin typeface="Inter"/>
                </a:rPr>
                <a:t>Peak glucose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10223500" y="3546094"/>
              <a:ext cx="249237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100" b="1">
                  <a:solidFill>
                    <a:srgbClr val="18212F"/>
                  </a:solidFill>
                  <a:latin typeface="Inter"/>
                </a:rPr>
                <a:t>191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10460037" y="3614547"/>
              <a:ext cx="251817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mg/dL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10223500" y="3728847"/>
              <a:ext cx="294282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real 187</a:t>
              </a:r>
            </a:p>
          </p:txBody>
        </p:sp>
        <p:sp>
          <p:nvSpPr>
            <p:cNvPr id="436" name="Rounded Rectangle 435"/>
            <p:cNvSpPr/>
            <p:nvPr/>
          </p:nvSpPr>
          <p:spPr>
            <a:xfrm>
              <a:off x="10972800" y="3352800"/>
              <a:ext cx="762000" cy="508000"/>
            </a:xfrm>
            <a:prstGeom prst="roundRect">
              <a:avLst>
                <a:gd name="adj" fmla="val 15000"/>
              </a:avLst>
            </a:prstGeom>
            <a:solidFill>
              <a:srgbClr val="F7F8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11061700" y="3430524"/>
              <a:ext cx="373757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0">
                  <a:solidFill>
                    <a:srgbClr val="8B95A7"/>
                  </a:solidFill>
                  <a:latin typeface="Inter"/>
                </a:rPr>
                <a:t>Peak rise</a:t>
              </a:r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11061700" y="3546094"/>
              <a:ext cx="302220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100" b="1">
                  <a:solidFill>
                    <a:srgbClr val="18212F"/>
                  </a:solidFill>
                  <a:latin typeface="Inter"/>
                </a:rPr>
                <a:t>+97</a:t>
              </a:r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11351220" y="3614547"/>
              <a:ext cx="251817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mg/dL</a:t>
              </a:r>
            </a:p>
          </p:txBody>
        </p:sp>
        <p:sp>
          <p:nvSpPr>
            <p:cNvPr id="440" name="TextBox 439"/>
            <p:cNvSpPr txBox="1"/>
            <p:nvPr/>
          </p:nvSpPr>
          <p:spPr>
            <a:xfrm>
              <a:off x="11061700" y="3728847"/>
              <a:ext cx="315118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real +92</a:t>
              </a:r>
            </a:p>
          </p:txBody>
        </p:sp>
        <p:sp>
          <p:nvSpPr>
            <p:cNvPr id="441" name="Rounded Rectangle 440"/>
            <p:cNvSpPr/>
            <p:nvPr/>
          </p:nvSpPr>
          <p:spPr>
            <a:xfrm>
              <a:off x="10134600" y="3937000"/>
              <a:ext cx="762000" cy="508000"/>
            </a:xfrm>
            <a:prstGeom prst="roundRect">
              <a:avLst>
                <a:gd name="adj" fmla="val 15000"/>
              </a:avLst>
            </a:prstGeom>
            <a:solidFill>
              <a:srgbClr val="F7F8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TextBox 441"/>
            <p:cNvSpPr txBox="1"/>
            <p:nvPr/>
          </p:nvSpPr>
          <p:spPr>
            <a:xfrm>
              <a:off x="10223500" y="4014724"/>
              <a:ext cx="509885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0">
                  <a:solidFill>
                    <a:srgbClr val="8B95A7"/>
                  </a:solidFill>
                  <a:latin typeface="Inter"/>
                </a:rPr>
                <a:t>Time to peak</a:t>
              </a:r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0223500" y="4130294"/>
              <a:ext cx="222944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100" b="1">
                  <a:solidFill>
                    <a:srgbClr val="18212F"/>
                  </a:solidFill>
                  <a:latin typeface="Inter"/>
                </a:rPr>
                <a:t>90</a:t>
              </a:r>
            </a:p>
          </p:txBody>
        </p:sp>
        <p:sp>
          <p:nvSpPr>
            <p:cNvPr id="444" name="TextBox 443"/>
            <p:cNvSpPr txBox="1"/>
            <p:nvPr/>
          </p:nvSpPr>
          <p:spPr>
            <a:xfrm>
              <a:off x="10433744" y="4198747"/>
              <a:ext cx="159742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min</a:t>
              </a:r>
            </a:p>
          </p:txBody>
        </p:sp>
        <p:sp>
          <p:nvSpPr>
            <p:cNvPr id="445" name="TextBox 444"/>
            <p:cNvSpPr txBox="1"/>
            <p:nvPr/>
          </p:nvSpPr>
          <p:spPr>
            <a:xfrm>
              <a:off x="10223500" y="4313047"/>
              <a:ext cx="299442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real 106</a:t>
              </a:r>
            </a:p>
          </p:txBody>
        </p:sp>
        <p:sp>
          <p:nvSpPr>
            <p:cNvPr id="446" name="Rounded Rectangle 445"/>
            <p:cNvSpPr/>
            <p:nvPr/>
          </p:nvSpPr>
          <p:spPr>
            <a:xfrm>
              <a:off x="10972800" y="3937000"/>
              <a:ext cx="762000" cy="508000"/>
            </a:xfrm>
            <a:prstGeom prst="roundRect">
              <a:avLst>
                <a:gd name="adj" fmla="val 15000"/>
              </a:avLst>
            </a:prstGeom>
            <a:solidFill>
              <a:srgbClr val="F7F8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11061700" y="4014724"/>
              <a:ext cx="649287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0">
                  <a:solidFill>
                    <a:srgbClr val="8B95A7"/>
                  </a:solidFill>
                  <a:latin typeface="Inter"/>
                </a:rPr>
                <a:t>iAUC, mg/dL·min</a:t>
              </a:r>
            </a:p>
          </p:txBody>
        </p:sp>
        <p:sp>
          <p:nvSpPr>
            <p:cNvPr id="448" name="TextBox 447"/>
            <p:cNvSpPr txBox="1"/>
            <p:nvPr/>
          </p:nvSpPr>
          <p:spPr>
            <a:xfrm>
              <a:off x="11061700" y="4130294"/>
              <a:ext cx="340320" cy="18161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1100" b="1">
                  <a:solidFill>
                    <a:srgbClr val="18212F"/>
                  </a:solidFill>
                  <a:latin typeface="Inter"/>
                </a:rPr>
                <a:t>6.2k</a:t>
              </a:r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389320" y="4198747"/>
              <a:ext cx="38100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/>
              </a:r>
            </a:p>
          </p:txBody>
        </p:sp>
        <p:sp>
          <p:nvSpPr>
            <p:cNvPr id="450" name="TextBox 449"/>
            <p:cNvSpPr txBox="1"/>
            <p:nvPr/>
          </p:nvSpPr>
          <p:spPr>
            <a:xfrm>
              <a:off x="11061700" y="4313047"/>
              <a:ext cx="325338" cy="9080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550" b="0">
                  <a:solidFill>
                    <a:srgbClr val="8B95A7"/>
                  </a:solidFill>
                  <a:latin typeface="Inter"/>
                </a:rPr>
                <a:t>real 6.3k</a:t>
              </a:r>
            </a:p>
          </p:txBody>
        </p:sp>
        <p:sp>
          <p:nvSpPr>
            <p:cNvPr id="451" name="TextBox 450"/>
            <p:cNvSpPr txBox="1"/>
            <p:nvPr/>
          </p:nvSpPr>
          <p:spPr>
            <a:xfrm>
              <a:off x="10134600" y="4649724"/>
              <a:ext cx="1322784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0">
                  <a:solidFill>
                    <a:srgbClr val="8B95A7"/>
                  </a:solidFill>
                  <a:latin typeface="Inter"/>
                </a:rPr>
                <a:t>Example: a real lunch on an unseen</a:t>
              </a:r>
            </a:p>
          </p:txBody>
        </p:sp>
        <p:sp>
          <p:nvSpPr>
            <p:cNvPr id="452" name="TextBox 451"/>
            <p:cNvSpPr txBox="1"/>
            <p:nvPr/>
          </p:nvSpPr>
          <p:spPr>
            <a:xfrm>
              <a:off x="10134600" y="4764024"/>
              <a:ext cx="1377652" cy="99060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600" b="0">
                  <a:solidFill>
                    <a:srgbClr val="8B95A7"/>
                  </a:solidFill>
                  <a:latin typeface="Inter"/>
                </a:rPr>
                <a:t>test day; "real" is the recorded CGM.</a:t>
              </a:r>
            </a:p>
          </p:txBody>
        </p:sp>
        <p:sp>
          <p:nvSpPr>
            <p:cNvPr id="453" name="Freeform 452"/>
            <p:cNvSpPr/>
            <p:nvPr/>
          </p:nvSpPr>
          <p:spPr>
            <a:xfrm>
              <a:off x="9220200" y="5549900"/>
              <a:ext cx="698500" cy="0"/>
            </a:xfrm>
            <a:custGeom>
              <a:avLst/>
              <a:gdLst/>
              <a:ahLst/>
              <a:cxnLst/>
              <a:rect l="l" t="t" r="r" b="b"/>
              <a:pathLst>
                <a:path w="698500" h="0">
                  <a:moveTo>
                    <a:pt x="0" y="0"/>
                  </a:moveTo>
                  <a:lnTo>
                    <a:pt x="698500" y="0"/>
                  </a:lnTo>
                </a:path>
              </a:pathLst>
            </a:custGeom>
            <a:noFill/>
            <a:ln w="1524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Freeform 453"/>
            <p:cNvSpPr/>
            <p:nvPr/>
          </p:nvSpPr>
          <p:spPr>
            <a:xfrm>
              <a:off x="9906000" y="55149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69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Rounded Rectangle 454"/>
            <p:cNvSpPr/>
            <p:nvPr/>
          </p:nvSpPr>
          <p:spPr>
            <a:xfrm>
              <a:off x="9982200" y="5435600"/>
              <a:ext cx="1905000" cy="228600"/>
            </a:xfrm>
            <a:prstGeom prst="roundRect">
              <a:avLst>
                <a:gd name="adj" fmla="val 50000"/>
              </a:avLst>
            </a:prstGeom>
            <a:solidFill>
              <a:srgbClr val="FCE8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TextBox 455"/>
            <p:cNvSpPr txBox="1"/>
            <p:nvPr/>
          </p:nvSpPr>
          <p:spPr>
            <a:xfrm>
              <a:off x="10109200" y="5491480"/>
              <a:ext cx="807541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1">
                  <a:solidFill>
                    <a:srgbClr val="B2432A"/>
                  </a:solidFill>
                  <a:latin typeface="Inter"/>
                </a:rPr>
                <a:t>Estimated HbA1c</a:t>
              </a:r>
            </a:p>
          </p:txBody>
        </p:sp>
        <p:sp>
          <p:nvSpPr>
            <p:cNvPr id="457" name="Freeform 456"/>
            <p:cNvSpPr/>
            <p:nvPr/>
          </p:nvSpPr>
          <p:spPr>
            <a:xfrm>
              <a:off x="9220200" y="6032500"/>
              <a:ext cx="698500" cy="0"/>
            </a:xfrm>
            <a:custGeom>
              <a:avLst/>
              <a:gdLst/>
              <a:ahLst/>
              <a:cxnLst/>
              <a:rect l="l" t="t" r="r" b="b"/>
              <a:pathLst>
                <a:path w="698500" h="0">
                  <a:moveTo>
                    <a:pt x="0" y="0"/>
                  </a:moveTo>
                  <a:lnTo>
                    <a:pt x="698500" y="0"/>
                  </a:lnTo>
                </a:path>
              </a:pathLst>
            </a:custGeom>
            <a:noFill/>
            <a:ln w="15240" cap="rnd">
              <a:solidFill>
                <a:srgbClr val="1E2C5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Freeform 457"/>
            <p:cNvSpPr/>
            <p:nvPr/>
          </p:nvSpPr>
          <p:spPr>
            <a:xfrm>
              <a:off x="9906000" y="59975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69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C5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ounded Rectangle 458"/>
            <p:cNvSpPr/>
            <p:nvPr/>
          </p:nvSpPr>
          <p:spPr>
            <a:xfrm>
              <a:off x="9982200" y="5918200"/>
              <a:ext cx="1905000" cy="228600"/>
            </a:xfrm>
            <a:prstGeom prst="roundRect">
              <a:avLst>
                <a:gd name="adj" fmla="val 50000"/>
              </a:avLst>
            </a:prstGeom>
            <a:solidFill>
              <a:srgbClr val="FCE8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TextBox 459"/>
            <p:cNvSpPr txBox="1"/>
            <p:nvPr/>
          </p:nvSpPr>
          <p:spPr>
            <a:xfrm>
              <a:off x="10109200" y="5974080"/>
              <a:ext cx="408384" cy="123825"/>
            </a:xfrm>
            <a:prstGeom prst="rect">
              <a:avLst/>
            </a:prstGeom>
            <a:noFill/>
          </p:spPr>
          <p:txBody>
            <a:bodyPr wrap="none" lIns="0" rIns="0" tIns="0" bIns="0">
              <a:noAutofit/>
            </a:bodyPr>
            <a:lstStyle/>
            <a:p>
              <a:pPr algn="l"/>
              <a:r>
                <a:rPr sz="750" b="1">
                  <a:solidFill>
                    <a:srgbClr val="B2432A"/>
                  </a:solidFill>
                  <a:latin typeface="Inter"/>
                </a:rPr>
                <a:t>Risk tier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